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6" autoAdjust="0"/>
    <p:restoredTop sz="94610"/>
  </p:normalViewPr>
  <p:slideViewPr>
    <p:cSldViewPr snapToGrid="0" snapToObjects="1">
      <p:cViewPr>
        <p:scale>
          <a:sx n="115" d="100"/>
          <a:sy n="115" d="100"/>
        </p:scale>
        <p:origin x="31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US" sz="1300" b="0" i="0" u="none" strike="noStrike">
                <a:solidFill>
                  <a:srgbClr val="0B2545"/>
                </a:solidFill>
                <a:latin typeface="Calibri"/>
              </a:rPr>
              <a:t>Cohort composition (unweighted respondents)</a:t>
            </a:r>
          </a:p>
        </c:rich>
      </c:tx>
      <c:overlay val="0"/>
    </c:title>
    <c:autoTitleDeleted val="0"/>
    <c:plotArea>
      <c:layout/>
      <c:doughnutChart>
        <c:varyColors val="1"/>
        <c:ser>
          <c:idx val="0"/>
          <c:order val="0"/>
          <c:tx>
            <c:strRef>
              <c:f>Sheet1!$B$1</c:f>
              <c:strCache>
                <c:ptCount val="1"/>
                <c:pt idx="0">
                  <c:v>Cohort</c:v>
                </c:pt>
              </c:strCache>
            </c:strRef>
          </c:tx>
          <c:spPr>
            <a:solidFill>
              <a:schemeClr val="accent1"/>
            </a:solidFill>
            <a:ln w="9525" cap="flat">
              <a:solidFill>
                <a:srgbClr val="F9F9F9"/>
              </a:solidFill>
              <a:prstDash val="solid"/>
              <a:round/>
            </a:ln>
            <a:effectLst/>
          </c:spPr>
          <c:dPt>
            <c:idx val="0"/>
            <c:bubble3D val="0"/>
            <c:spPr>
              <a:solidFill>
                <a:srgbClr val="3E7C85"/>
              </a:solidFill>
              <a:ln w="12700" cap="flat">
                <a:solidFill>
                  <a:srgbClr val="FFFFFF"/>
                </a:solidFill>
                <a:prstDash val="solid"/>
                <a:round/>
              </a:ln>
              <a:effectLst/>
            </c:spPr>
            <c:extLst>
              <c:ext xmlns:c16="http://schemas.microsoft.com/office/drawing/2014/chart" uri="{C3380CC4-5D6E-409C-BE32-E72D297353CC}">
                <c16:uniqueId val="{00000001-D3C5-483C-A5C1-E47EC5C25042}"/>
              </c:ext>
            </c:extLst>
          </c:dPt>
          <c:dPt>
            <c:idx val="1"/>
            <c:bubble3D val="0"/>
            <c:spPr>
              <a:solidFill>
                <a:srgbClr val="D5DCE5"/>
              </a:solidFill>
              <a:ln w="12700" cap="flat">
                <a:solidFill>
                  <a:srgbClr val="FFFFFF"/>
                </a:solidFill>
                <a:prstDash val="solid"/>
                <a:round/>
              </a:ln>
              <a:effectLst/>
            </c:spPr>
            <c:extLst>
              <c:ext xmlns:c16="http://schemas.microsoft.com/office/drawing/2014/chart" uri="{C3380CC4-5D6E-409C-BE32-E72D297353CC}">
                <c16:uniqueId val="{00000003-D3C5-483C-A5C1-E47EC5C25042}"/>
              </c:ext>
            </c:extLst>
          </c:dPt>
          <c:dLbls>
            <c:dLbl>
              <c:idx val="0"/>
              <c:layout>
                <c:manualLayout>
                  <c:x val="0.15503875968992242"/>
                  <c:y val="-8.3333333333333329E-2"/>
                </c:manualLayout>
              </c:layout>
              <c:numFmt formatCode="0.00%" sourceLinked="0"/>
              <c:spPr/>
              <c:txPr>
                <a:bodyPr/>
                <a:lstStyle/>
                <a:p>
                  <a:pPr>
                    <a:defRPr sz="1200" b="1" i="0" u="none" strike="noStrike">
                      <a:solidFill>
                        <a:srgbClr val="0B2545"/>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3C5-483C-A5C1-E47EC5C25042}"/>
                </c:ext>
              </c:extLst>
            </c:dLbl>
            <c:dLbl>
              <c:idx val="1"/>
              <c:layout>
                <c:manualLayout>
                  <c:x val="-0.16795865633074938"/>
                  <c:y val="3.3333333333333229E-2"/>
                </c:manualLayout>
              </c:layout>
              <c:numFmt formatCode="0.00%" sourceLinked="0"/>
              <c:spPr/>
              <c:txPr>
                <a:bodyPr/>
                <a:lstStyle/>
                <a:p>
                  <a:pPr>
                    <a:defRPr sz="1200" b="1" i="0" u="none" strike="noStrike">
                      <a:solidFill>
                        <a:srgbClr val="0B2545"/>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3C5-483C-A5C1-E47EC5C25042}"/>
                </c:ext>
              </c:extLst>
            </c:dLbl>
            <c:numFmt formatCode="0.0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Positive (42,338)</c:v>
                </c:pt>
                <c:pt idx="1">
                  <c:v>Negative (410,126)</c:v>
                </c:pt>
              </c:strCache>
            </c:strRef>
          </c:cat>
          <c:val>
            <c:numRef>
              <c:f>Sheet1!$B$2:$B$3</c:f>
              <c:numCache>
                <c:formatCode>General</c:formatCode>
                <c:ptCount val="2"/>
                <c:pt idx="0">
                  <c:v>42338</c:v>
                </c:pt>
                <c:pt idx="1">
                  <c:v>410126</c:v>
                </c:pt>
              </c:numCache>
            </c:numRef>
          </c:val>
          <c:extLst>
            <c:ext xmlns:c16="http://schemas.microsoft.com/office/drawing/2014/chart" uri="{C3380CC4-5D6E-409C-BE32-E72D297353CC}">
              <c16:uniqueId val="{00000004-D3C5-483C-A5C1-E47EC5C25042}"/>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200">
              <a:solidFill>
                <a:srgbClr val="0B254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US" sz="1300" b="0" i="0" u="none" strike="noStrike">
                <a:solidFill>
                  <a:srgbClr val="0B2545"/>
                </a:solidFill>
                <a:latin typeface="Calibri"/>
              </a:rPr>
              <a:t>_MICHD prevalence: sample vs weighted</a:t>
            </a:r>
          </a:p>
        </c:rich>
      </c:tx>
      <c:overlay val="0"/>
    </c:title>
    <c:autoTitleDeleted val="0"/>
    <c:plotArea>
      <c:layout/>
      <c:barChart>
        <c:barDir val="bar"/>
        <c:grouping val="clustered"/>
        <c:varyColors val="0"/>
        <c:ser>
          <c:idx val="0"/>
          <c:order val="0"/>
          <c:tx>
            <c:strRef>
              <c:f>Sheet1!$B$1</c:f>
              <c:strCache>
                <c:ptCount val="1"/>
                <c:pt idx="0">
                  <c:v>Positive prevalence (%)</c:v>
                </c:pt>
              </c:strCache>
            </c:strRef>
          </c:tx>
          <c:spPr>
            <a:solidFill>
              <a:srgbClr val="3E7C85"/>
            </a:solidFill>
            <a:effectLst/>
          </c:spPr>
          <c:invertIfNegative val="0"/>
          <c:dPt>
            <c:idx val="0"/>
            <c:invertIfNegative val="0"/>
            <c:bubble3D val="0"/>
            <c:extLst>
              <c:ext xmlns:c16="http://schemas.microsoft.com/office/drawing/2014/chart" uri="{C3380CC4-5D6E-409C-BE32-E72D297353CC}">
                <c16:uniqueId val="{00000001-9D5B-471A-A163-E9EC1E6B0094}"/>
              </c:ext>
            </c:extLst>
          </c:dPt>
          <c:dPt>
            <c:idx val="1"/>
            <c:invertIfNegative val="0"/>
            <c:bubble3D val="0"/>
            <c:spPr>
              <a:solidFill>
                <a:srgbClr val="1F3F6B"/>
              </a:solidFill>
              <a:effectLst/>
            </c:spPr>
            <c:extLst>
              <c:ext xmlns:c16="http://schemas.microsoft.com/office/drawing/2014/chart" uri="{C3380CC4-5D6E-409C-BE32-E72D297353CC}">
                <c16:uniqueId val="{00000003-9D5B-471A-A163-E9EC1E6B0094}"/>
              </c:ext>
            </c:extLst>
          </c:dPt>
          <c:dLbls>
            <c:numFmt formatCode="0.00&quot;%&quot;" sourceLinked="0"/>
            <c:spPr>
              <a:noFill/>
              <a:ln>
                <a:noFill/>
              </a:ln>
              <a:effectLst/>
            </c:spPr>
            <c:txPr>
              <a:bodyPr/>
              <a:lstStyle/>
              <a:p>
                <a:pPr>
                  <a:defRPr sz="1200" b="1" i="0" u="none" strike="noStrike">
                    <a:solidFill>
                      <a:srgbClr val="0B254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Unweighted sample</c:v>
                </c:pt>
                <c:pt idx="1">
                  <c:v>Survey-weighted</c:v>
                </c:pt>
              </c:strCache>
            </c:strRef>
          </c:cat>
          <c:val>
            <c:numRef>
              <c:f>Sheet1!$B$2:$B$3</c:f>
              <c:numCache>
                <c:formatCode>General</c:formatCode>
                <c:ptCount val="2"/>
                <c:pt idx="0">
                  <c:v>9.36</c:v>
                </c:pt>
                <c:pt idx="1">
                  <c:v>6.8</c:v>
                </c:pt>
              </c:numCache>
            </c:numRef>
          </c:val>
          <c:extLst>
            <c:ext xmlns:c16="http://schemas.microsoft.com/office/drawing/2014/chart" uri="{C3380CC4-5D6E-409C-BE32-E72D297353CC}">
              <c16:uniqueId val="{00000004-9D5B-471A-A163-E9EC1E6B0094}"/>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2545"/>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0"/>
        <c:axPos val="t"/>
        <c:majorGridlines>
          <c:spPr>
            <a:ln w="6350" cap="flat">
              <a:solidFill>
                <a:srgbClr val="E1E6EC"/>
              </a:solidFill>
              <a:prstDash val="solid"/>
              <a:round/>
            </a:ln>
          </c:spPr>
        </c:majorGridlines>
        <c:title>
          <c:tx>
            <c:rich>
              <a:bodyPr/>
              <a:lstStyle/>
              <a:p>
                <a:pPr>
                  <a:defRPr sz="1100" b="0" i="0" u="none" strike="noStrike">
                    <a:solidFill>
                      <a:srgbClr val="5A6B7F"/>
                    </a:solidFill>
                    <a:latin typeface="Calibri"/>
                  </a:defRPr>
                </a:pPr>
                <a:r>
                  <a:rPr lang="en-US" sz="1100" b="0" i="0" u="none" strike="noStrike">
                    <a:solidFill>
                      <a:srgbClr val="5A6B7F"/>
                    </a:solidFill>
                    <a:latin typeface="Calibri"/>
                  </a:rPr>
                  <a:t>Positive prevalence (%)</a:t>
                </a:r>
              </a:p>
            </c:rich>
          </c:tx>
          <c:overlay val="0"/>
        </c:title>
        <c:numFmt formatCode="0" sourceLinked="0"/>
        <c:majorTickMark val="out"/>
        <c:minorTickMark val="none"/>
        <c:tickLblPos val="low"/>
        <c:spPr>
          <a:ln w="12700" cap="flat">
            <a:noFill/>
            <a:prstDash val="solid"/>
            <a:round/>
          </a:ln>
        </c:spPr>
        <c:txPr>
          <a:bodyPr/>
          <a:lstStyle/>
          <a:p>
            <a:pPr>
              <a:defRPr sz="1100" b="0" i="0" u="none" strike="noStrike">
                <a:solidFill>
                  <a:srgbClr val="5A6B7F"/>
                </a:solidFill>
                <a:latin typeface="Calibri"/>
              </a:defRPr>
            </a:pPr>
            <a:endParaRPr lang="en-US"/>
          </a:p>
        </c:txPr>
        <c:crossAx val="2094734554"/>
        <c:crosses val="autoZero"/>
        <c:crossBetween val="between"/>
        <c:majorUnit val="3"/>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US" sz="1300" b="0" i="0" u="none" strike="noStrike">
                <a:solidFill>
                  <a:srgbClr val="0B2545"/>
                </a:solidFill>
                <a:latin typeface="Calibri"/>
              </a:rPr>
              <a:t>Documented multivariable analysis</a:t>
            </a:r>
          </a:p>
        </c:rich>
      </c:tx>
      <c:overlay val="0"/>
    </c:title>
    <c:autoTitleDeleted val="0"/>
    <c:plotArea>
      <c:layout/>
      <c:barChart>
        <c:barDir val="bar"/>
        <c:grouping val="clustered"/>
        <c:varyColors val="0"/>
        <c:ser>
          <c:idx val="0"/>
          <c:order val="0"/>
          <c:tx>
            <c:strRef>
              <c:f>Sheet1!$B$1</c:f>
              <c:strCache>
                <c:ptCount val="1"/>
                <c:pt idx="0">
                  <c:v>Adjusted odds ratio</c:v>
                </c:pt>
              </c:strCache>
            </c:strRef>
          </c:tx>
          <c:spPr>
            <a:solidFill>
              <a:srgbClr val="3E7C85"/>
            </a:solidFill>
            <a:effectLst/>
          </c:spPr>
          <c:invertIfNegative val="0"/>
          <c:dLbls>
            <c:numFmt formatCode="0.00" sourceLinked="0"/>
            <c:spPr>
              <a:noFill/>
              <a:ln>
                <a:noFill/>
              </a:ln>
              <a:effectLst/>
            </c:spPr>
            <c:txPr>
              <a:bodyPr/>
              <a:lstStyle/>
              <a:p>
                <a:pPr>
                  <a:defRPr sz="1200" b="1" i="0" u="none" strike="noStrike">
                    <a:solidFill>
                      <a:srgbClr val="0B254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Age 65+</c:v>
                </c:pt>
                <c:pt idx="1">
                  <c:v>Male sex</c:v>
                </c:pt>
                <c:pt idx="2">
                  <c:v>Current smoking</c:v>
                </c:pt>
                <c:pt idx="3">
                  <c:v>Physical inactivity</c:v>
                </c:pt>
                <c:pt idx="4">
                  <c:v>Overweight / obesity</c:v>
                </c:pt>
              </c:strCache>
            </c:strRef>
          </c:cat>
          <c:val>
            <c:numRef>
              <c:f>Sheet1!$B$2:$B$6</c:f>
              <c:numCache>
                <c:formatCode>General</c:formatCode>
                <c:ptCount val="5"/>
                <c:pt idx="0">
                  <c:v>4.57</c:v>
                </c:pt>
                <c:pt idx="1">
                  <c:v>1.73</c:v>
                </c:pt>
                <c:pt idx="2">
                  <c:v>1.58</c:v>
                </c:pt>
                <c:pt idx="3">
                  <c:v>1.21</c:v>
                </c:pt>
                <c:pt idx="4">
                  <c:v>1.2</c:v>
                </c:pt>
              </c:numCache>
            </c:numRef>
          </c:val>
          <c:extLst>
            <c:ext xmlns:c16="http://schemas.microsoft.com/office/drawing/2014/chart" uri="{C3380CC4-5D6E-409C-BE32-E72D297353CC}">
              <c16:uniqueId val="{00000000-015E-4D4B-86BC-9B104D0B0A42}"/>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2545"/>
                </a:solidFill>
                <a:latin typeface="Calibri"/>
              </a:defRPr>
            </a:pPr>
            <a:endParaRPr lang="en-US"/>
          </a:p>
        </c:txPr>
        <c:crossAx val="2094734552"/>
        <c:crosses val="autoZero"/>
        <c:auto val="1"/>
        <c:lblAlgn val="ctr"/>
        <c:lblOffset val="100"/>
        <c:noMultiLvlLbl val="1"/>
      </c:catAx>
      <c:valAx>
        <c:axId val="2094734552"/>
        <c:scaling>
          <c:orientation val="minMax"/>
          <c:max val="5.5"/>
          <c:min val="0"/>
        </c:scaling>
        <c:delete val="0"/>
        <c:axPos val="t"/>
        <c:majorGridlines>
          <c:spPr>
            <a:ln w="6350" cap="flat">
              <a:solidFill>
                <a:srgbClr val="E1E6EC"/>
              </a:solidFill>
              <a:prstDash val="solid"/>
              <a:round/>
            </a:ln>
          </c:spPr>
        </c:majorGridlines>
        <c:title>
          <c:tx>
            <c:rich>
              <a:bodyPr/>
              <a:lstStyle/>
              <a:p>
                <a:pPr>
                  <a:defRPr sz="1100" b="0" i="0" u="none" strike="noStrike">
                    <a:solidFill>
                      <a:srgbClr val="5A6B7F"/>
                    </a:solidFill>
                    <a:latin typeface="Calibri"/>
                  </a:defRPr>
                </a:pPr>
                <a:r>
                  <a:rPr lang="en-US" sz="1100" b="0" i="0" u="none" strike="noStrike">
                    <a:solidFill>
                      <a:srgbClr val="5A6B7F"/>
                    </a:solidFill>
                    <a:latin typeface="Calibri"/>
                  </a:rPr>
                  <a:t>Adjusted odds ratio (1.0 = no association)</a:t>
                </a:r>
              </a:p>
            </c:rich>
          </c:tx>
          <c:overlay val="0"/>
        </c:title>
        <c:numFmt formatCode="0" sourceLinked="0"/>
        <c:majorTickMark val="out"/>
        <c:minorTickMark val="none"/>
        <c:tickLblPos val="low"/>
        <c:spPr>
          <a:ln w="12700" cap="flat">
            <a:noFill/>
            <a:prstDash val="solid"/>
            <a:round/>
          </a:ln>
        </c:spPr>
        <c:txPr>
          <a:bodyPr/>
          <a:lstStyle/>
          <a:p>
            <a:pPr>
              <a:defRPr sz="1100" b="0" i="0" u="none" strike="noStrike">
                <a:solidFill>
                  <a:srgbClr val="5A6B7F"/>
                </a:solidFill>
                <a:latin typeface="Calibri"/>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US" sz="1300" b="0" i="0" u="none" strike="noStrike">
                <a:solidFill>
                  <a:srgbClr val="0B2545"/>
                </a:solidFill>
                <a:latin typeface="Calibri"/>
              </a:rPr>
              <a:t>Validation PR-AUC</a:t>
            </a:r>
          </a:p>
        </c:rich>
      </c:tx>
      <c:overlay val="0"/>
    </c:title>
    <c:autoTitleDeleted val="0"/>
    <c:plotArea>
      <c:layout/>
      <c:barChart>
        <c:barDir val="col"/>
        <c:grouping val="clustered"/>
        <c:varyColors val="0"/>
        <c:ser>
          <c:idx val="0"/>
          <c:order val="0"/>
          <c:tx>
            <c:strRef>
              <c:f>Sheet1!$B$1</c:f>
              <c:strCache>
                <c:ptCount val="1"/>
                <c:pt idx="0">
                  <c:v>PR-AUC</c:v>
                </c:pt>
              </c:strCache>
            </c:strRef>
          </c:tx>
          <c:spPr>
            <a:solidFill>
              <a:srgbClr val="D5DCE5"/>
            </a:solidFill>
            <a:effectLst/>
          </c:spPr>
          <c:invertIfNegative val="0"/>
          <c:dPt>
            <c:idx val="0"/>
            <c:invertIfNegative val="0"/>
            <c:bubble3D val="0"/>
            <c:extLst>
              <c:ext xmlns:c16="http://schemas.microsoft.com/office/drawing/2014/chart" uri="{C3380CC4-5D6E-409C-BE32-E72D297353CC}">
                <c16:uniqueId val="{00000001-2BE9-4FDB-884B-2417DEADE16F}"/>
              </c:ext>
            </c:extLst>
          </c:dPt>
          <c:dPt>
            <c:idx val="1"/>
            <c:invertIfNegative val="0"/>
            <c:bubble3D val="0"/>
            <c:extLst>
              <c:ext xmlns:c16="http://schemas.microsoft.com/office/drawing/2014/chart" uri="{C3380CC4-5D6E-409C-BE32-E72D297353CC}">
                <c16:uniqueId val="{00000003-2BE9-4FDB-884B-2417DEADE16F}"/>
              </c:ext>
            </c:extLst>
          </c:dPt>
          <c:dPt>
            <c:idx val="2"/>
            <c:invertIfNegative val="0"/>
            <c:bubble3D val="0"/>
            <c:spPr>
              <a:solidFill>
                <a:srgbClr val="3E7C85"/>
              </a:solidFill>
              <a:effectLst/>
            </c:spPr>
            <c:extLst>
              <c:ext xmlns:c16="http://schemas.microsoft.com/office/drawing/2014/chart" uri="{C3380CC4-5D6E-409C-BE32-E72D297353CC}">
                <c16:uniqueId val="{00000005-2BE9-4FDB-884B-2417DEADE16F}"/>
              </c:ext>
            </c:extLst>
          </c:dPt>
          <c:dPt>
            <c:idx val="3"/>
            <c:invertIfNegative val="0"/>
            <c:bubble3D val="0"/>
            <c:extLst>
              <c:ext xmlns:c16="http://schemas.microsoft.com/office/drawing/2014/chart" uri="{C3380CC4-5D6E-409C-BE32-E72D297353CC}">
                <c16:uniqueId val="{00000007-2BE9-4FDB-884B-2417DEADE16F}"/>
              </c:ext>
            </c:extLst>
          </c:dPt>
          <c:dLbls>
            <c:numFmt formatCode="0.0000" sourceLinked="0"/>
            <c:spPr>
              <a:noFill/>
              <a:ln>
                <a:noFill/>
              </a:ln>
              <a:effectLst/>
            </c:spPr>
            <c:txPr>
              <a:bodyPr/>
              <a:lstStyle/>
              <a:p>
                <a:pPr>
                  <a:defRPr sz="1200" b="1" i="0" u="none" strike="noStrike">
                    <a:solidFill>
                      <a:srgbClr val="0B254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LR</c:v>
                </c:pt>
                <c:pt idx="1">
                  <c:v>LR weighted</c:v>
                </c:pt>
                <c:pt idx="2">
                  <c:v>HGB</c:v>
                </c:pt>
                <c:pt idx="3">
                  <c:v>HGB weighted</c:v>
                </c:pt>
              </c:strCache>
            </c:strRef>
          </c:cat>
          <c:val>
            <c:numRef>
              <c:f>Sheet1!$B$2:$B$5</c:f>
              <c:numCache>
                <c:formatCode>General</c:formatCode>
                <c:ptCount val="4"/>
                <c:pt idx="0">
                  <c:v>0.36580000000000001</c:v>
                </c:pt>
                <c:pt idx="1">
                  <c:v>0.36459999999999998</c:v>
                </c:pt>
                <c:pt idx="2">
                  <c:v>0.37009999999999998</c:v>
                </c:pt>
                <c:pt idx="3">
                  <c:v>0.36870000000000003</c:v>
                </c:pt>
              </c:numCache>
            </c:numRef>
          </c:val>
          <c:extLst>
            <c:ext xmlns:c16="http://schemas.microsoft.com/office/drawing/2014/chart" uri="{C3380CC4-5D6E-409C-BE32-E72D297353CC}">
              <c16:uniqueId val="{00000008-2BE9-4FDB-884B-2417DEADE16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545"/>
                </a:solidFill>
                <a:latin typeface="Calibri"/>
              </a:defRPr>
            </a:pPr>
            <a:endParaRPr lang="en-US"/>
          </a:p>
        </c:txPr>
        <c:crossAx val="2094734552"/>
        <c:crosses val="autoZero"/>
        <c:auto val="1"/>
        <c:lblAlgn val="ctr"/>
        <c:lblOffset val="100"/>
        <c:noMultiLvlLbl val="1"/>
      </c:catAx>
      <c:valAx>
        <c:axId val="2094734552"/>
        <c:scaling>
          <c:orientation val="minMax"/>
          <c:max val="0.5"/>
          <c:min val="0"/>
        </c:scaling>
        <c:delete val="0"/>
        <c:axPos val="l"/>
        <c:majorGridlines>
          <c:spPr>
            <a:ln w="6350" cap="flat">
              <a:solidFill>
                <a:srgbClr val="E1E6EC"/>
              </a:solidFill>
              <a:prstDash val="solid"/>
              <a:round/>
            </a:ln>
          </c:spPr>
        </c:majorGridlines>
        <c:title>
          <c:tx>
            <c:rich>
              <a:bodyPr/>
              <a:lstStyle/>
              <a:p>
                <a:pPr>
                  <a:defRPr sz="1100" b="0" i="0" u="none" strike="noStrike">
                    <a:solidFill>
                      <a:srgbClr val="5A6B7F"/>
                    </a:solidFill>
                    <a:latin typeface="Calibri"/>
                  </a:defRPr>
                </a:pPr>
                <a:r>
                  <a:rPr lang="en-US" sz="1100" b="0" i="0" u="none" strike="noStrike">
                    <a:solidFill>
                      <a:srgbClr val="5A6B7F"/>
                    </a:solidFill>
                    <a:latin typeface="Calibri"/>
                  </a:rPr>
                  <a:t>PR-AUC (higher is better)</a:t>
                </a:r>
              </a:p>
            </c:rich>
          </c:tx>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5A6B7F"/>
                </a:solidFill>
                <a:latin typeface="Calibri"/>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US" sz="1300" b="0" i="0" u="none" strike="noStrike">
                <a:solidFill>
                  <a:srgbClr val="0B2545"/>
                </a:solidFill>
                <a:latin typeface="Calibri"/>
              </a:rPr>
              <a:t>Validation Brier score</a:t>
            </a:r>
          </a:p>
        </c:rich>
      </c:tx>
      <c:overlay val="0"/>
    </c:title>
    <c:autoTitleDeleted val="0"/>
    <c:plotArea>
      <c:layout/>
      <c:barChart>
        <c:barDir val="col"/>
        <c:grouping val="clustered"/>
        <c:varyColors val="0"/>
        <c:ser>
          <c:idx val="0"/>
          <c:order val="0"/>
          <c:tx>
            <c:strRef>
              <c:f>Sheet1!$B$1</c:f>
              <c:strCache>
                <c:ptCount val="1"/>
                <c:pt idx="0">
                  <c:v>Brier</c:v>
                </c:pt>
              </c:strCache>
            </c:strRef>
          </c:tx>
          <c:spPr>
            <a:solidFill>
              <a:srgbClr val="D5DCE5"/>
            </a:solidFill>
            <a:effectLst/>
          </c:spPr>
          <c:invertIfNegative val="0"/>
          <c:dPt>
            <c:idx val="0"/>
            <c:invertIfNegative val="0"/>
            <c:bubble3D val="0"/>
            <c:extLst>
              <c:ext xmlns:c16="http://schemas.microsoft.com/office/drawing/2014/chart" uri="{C3380CC4-5D6E-409C-BE32-E72D297353CC}">
                <c16:uniqueId val="{00000001-5555-4B06-90BE-9829A4E3DFF2}"/>
              </c:ext>
            </c:extLst>
          </c:dPt>
          <c:dPt>
            <c:idx val="1"/>
            <c:invertIfNegative val="0"/>
            <c:bubble3D val="0"/>
            <c:extLst>
              <c:ext xmlns:c16="http://schemas.microsoft.com/office/drawing/2014/chart" uri="{C3380CC4-5D6E-409C-BE32-E72D297353CC}">
                <c16:uniqueId val="{00000003-5555-4B06-90BE-9829A4E3DFF2}"/>
              </c:ext>
            </c:extLst>
          </c:dPt>
          <c:dPt>
            <c:idx val="2"/>
            <c:invertIfNegative val="0"/>
            <c:bubble3D val="0"/>
            <c:spPr>
              <a:solidFill>
                <a:srgbClr val="3E7C85"/>
              </a:solidFill>
              <a:effectLst/>
            </c:spPr>
            <c:extLst>
              <c:ext xmlns:c16="http://schemas.microsoft.com/office/drawing/2014/chart" uri="{C3380CC4-5D6E-409C-BE32-E72D297353CC}">
                <c16:uniqueId val="{00000005-5555-4B06-90BE-9829A4E3DFF2}"/>
              </c:ext>
            </c:extLst>
          </c:dPt>
          <c:dPt>
            <c:idx val="3"/>
            <c:invertIfNegative val="0"/>
            <c:bubble3D val="0"/>
            <c:extLst>
              <c:ext xmlns:c16="http://schemas.microsoft.com/office/drawing/2014/chart" uri="{C3380CC4-5D6E-409C-BE32-E72D297353CC}">
                <c16:uniqueId val="{00000007-5555-4B06-90BE-9829A4E3DFF2}"/>
              </c:ext>
            </c:extLst>
          </c:dPt>
          <c:dLbls>
            <c:numFmt formatCode="0.0000" sourceLinked="0"/>
            <c:spPr>
              <a:noFill/>
              <a:ln>
                <a:noFill/>
              </a:ln>
              <a:effectLst/>
            </c:spPr>
            <c:txPr>
              <a:bodyPr/>
              <a:lstStyle/>
              <a:p>
                <a:pPr>
                  <a:defRPr sz="1200" b="1" i="0" u="none" strike="noStrike">
                    <a:solidFill>
                      <a:srgbClr val="0B254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LR</c:v>
                </c:pt>
                <c:pt idx="1">
                  <c:v>LR weighted</c:v>
                </c:pt>
                <c:pt idx="2">
                  <c:v>HGB</c:v>
                </c:pt>
                <c:pt idx="3">
                  <c:v>HGB weighted</c:v>
                </c:pt>
              </c:strCache>
            </c:strRef>
          </c:cat>
          <c:val>
            <c:numRef>
              <c:f>Sheet1!$B$2:$B$5</c:f>
              <c:numCache>
                <c:formatCode>General</c:formatCode>
                <c:ptCount val="4"/>
                <c:pt idx="0">
                  <c:v>7.0499999999999993E-2</c:v>
                </c:pt>
                <c:pt idx="1">
                  <c:v>0.1661</c:v>
                </c:pt>
                <c:pt idx="2">
                  <c:v>7.0000000000000007E-2</c:v>
                </c:pt>
                <c:pt idx="3">
                  <c:v>0.16520000000000001</c:v>
                </c:pt>
              </c:numCache>
            </c:numRef>
          </c:val>
          <c:extLst>
            <c:ext xmlns:c16="http://schemas.microsoft.com/office/drawing/2014/chart" uri="{C3380CC4-5D6E-409C-BE32-E72D297353CC}">
              <c16:uniqueId val="{00000008-5555-4B06-90BE-9829A4E3DFF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545"/>
                </a:solidFill>
                <a:latin typeface="Calibri"/>
              </a:defRPr>
            </a:pPr>
            <a:endParaRPr lang="en-US"/>
          </a:p>
        </c:txPr>
        <c:crossAx val="2094734552"/>
        <c:crosses val="autoZero"/>
        <c:auto val="1"/>
        <c:lblAlgn val="ctr"/>
        <c:lblOffset val="100"/>
        <c:noMultiLvlLbl val="1"/>
      </c:catAx>
      <c:valAx>
        <c:axId val="2094734552"/>
        <c:scaling>
          <c:orientation val="minMax"/>
          <c:max val="0.2"/>
          <c:min val="0"/>
        </c:scaling>
        <c:delete val="0"/>
        <c:axPos val="l"/>
        <c:majorGridlines>
          <c:spPr>
            <a:ln w="6350" cap="flat">
              <a:solidFill>
                <a:srgbClr val="E1E6EC"/>
              </a:solidFill>
              <a:prstDash val="solid"/>
              <a:round/>
            </a:ln>
          </c:spPr>
        </c:majorGridlines>
        <c:title>
          <c:tx>
            <c:rich>
              <a:bodyPr/>
              <a:lstStyle/>
              <a:p>
                <a:pPr>
                  <a:defRPr sz="1100" b="0" i="0" u="none" strike="noStrike">
                    <a:solidFill>
                      <a:srgbClr val="5A6B7F"/>
                    </a:solidFill>
                    <a:latin typeface="Calibri"/>
                  </a:defRPr>
                </a:pPr>
                <a:r>
                  <a:rPr lang="en-US" sz="1100" b="0" i="0" u="none" strike="noStrike">
                    <a:solidFill>
                      <a:srgbClr val="5A6B7F"/>
                    </a:solidFill>
                    <a:latin typeface="Calibri"/>
                  </a:rPr>
                  <a:t>Brier score (lower is better)</a:t>
                </a:r>
              </a:p>
            </c:rich>
          </c:tx>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5A6B7F"/>
                </a:solidFill>
                <a:latin typeface="Calibri"/>
              </a:defRPr>
            </a:pPr>
            <a:endParaRPr lang="en-US"/>
          </a:p>
        </c:txPr>
        <c:crossAx val="2094734554"/>
        <c:crosses val="autoZero"/>
        <c:crossBetween val="between"/>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US" sz="1300" b="0" i="0" u="none" strike="noStrike">
                <a:solidFill>
                  <a:srgbClr val="0B2545"/>
                </a:solidFill>
                <a:latin typeface="Calibri"/>
              </a:rPr>
              <a:t>Holdout test set (n = 67,870)</a:t>
            </a:r>
          </a:p>
        </c:rich>
      </c:tx>
      <c:overlay val="0"/>
    </c:title>
    <c:autoTitleDeleted val="0"/>
    <c:plotArea>
      <c:layout/>
      <c:barChart>
        <c:barDir val="col"/>
        <c:grouping val="clustered"/>
        <c:varyColors val="0"/>
        <c:ser>
          <c:idx val="0"/>
          <c:order val="0"/>
          <c:tx>
            <c:strRef>
              <c:f>Sheet1!$B$1</c:f>
              <c:strCache>
                <c:ptCount val="1"/>
                <c:pt idx="0">
                  <c:v>Default threshold 0.50</c:v>
                </c:pt>
              </c:strCache>
            </c:strRef>
          </c:tx>
          <c:spPr>
            <a:solidFill>
              <a:srgbClr val="D5DCE5"/>
            </a:solidFill>
            <a:effectLst/>
          </c:spPr>
          <c:invertIfNegative val="0"/>
          <c:dLbls>
            <c:numFmt formatCode="0.00&quot;%&quot;" sourceLinked="0"/>
            <c:spPr>
              <a:noFill/>
              <a:ln>
                <a:noFill/>
              </a:ln>
              <a:effectLst/>
            </c:spPr>
            <c:txPr>
              <a:bodyPr/>
              <a:lstStyle/>
              <a:p>
                <a:pPr>
                  <a:defRPr sz="1200" b="1" i="0" u="none" strike="noStrike">
                    <a:solidFill>
                      <a:srgbClr val="0B254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Sensitivity</c:v>
                </c:pt>
                <c:pt idx="1">
                  <c:v>Specificity</c:v>
                </c:pt>
              </c:strCache>
            </c:strRef>
          </c:cat>
          <c:val>
            <c:numRef>
              <c:f>Sheet1!$B$2:$B$3</c:f>
              <c:numCache>
                <c:formatCode>General</c:formatCode>
                <c:ptCount val="2"/>
                <c:pt idx="0">
                  <c:v>10.91</c:v>
                </c:pt>
                <c:pt idx="1">
                  <c:v>99.26</c:v>
                </c:pt>
              </c:numCache>
            </c:numRef>
          </c:val>
          <c:extLst>
            <c:ext xmlns:c16="http://schemas.microsoft.com/office/drawing/2014/chart" uri="{C3380CC4-5D6E-409C-BE32-E72D297353CC}">
              <c16:uniqueId val="{00000000-D1EA-484B-A78C-8876826F7591}"/>
            </c:ext>
          </c:extLst>
        </c:ser>
        <c:ser>
          <c:idx val="1"/>
          <c:order val="1"/>
          <c:tx>
            <c:strRef>
              <c:f>Sheet1!$C$1</c:f>
              <c:strCache>
                <c:ptCount val="1"/>
                <c:pt idx="0">
                  <c:v>Selected threshold 0.080</c:v>
                </c:pt>
              </c:strCache>
            </c:strRef>
          </c:tx>
          <c:spPr>
            <a:solidFill>
              <a:srgbClr val="3E7C85"/>
            </a:solidFill>
            <a:effectLst/>
          </c:spPr>
          <c:invertIfNegative val="0"/>
          <c:dLbls>
            <c:numFmt formatCode="0.00&quot;%&quot;" sourceLinked="0"/>
            <c:spPr>
              <a:noFill/>
              <a:ln>
                <a:noFill/>
              </a:ln>
              <a:effectLst/>
            </c:spPr>
            <c:txPr>
              <a:bodyPr/>
              <a:lstStyle/>
              <a:p>
                <a:pPr>
                  <a:defRPr sz="1200" b="1" i="0" u="none" strike="noStrike">
                    <a:solidFill>
                      <a:srgbClr val="0B254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Sensitivity</c:v>
                </c:pt>
                <c:pt idx="1">
                  <c:v>Specificity</c:v>
                </c:pt>
              </c:strCache>
            </c:strRef>
          </c:cat>
          <c:val>
            <c:numRef>
              <c:f>Sheet1!$C$2:$C$3</c:f>
              <c:numCache>
                <c:formatCode>General</c:formatCode>
                <c:ptCount val="2"/>
                <c:pt idx="0">
                  <c:v>83.91</c:v>
                </c:pt>
                <c:pt idx="1">
                  <c:v>70.45</c:v>
                </c:pt>
              </c:numCache>
            </c:numRef>
          </c:val>
          <c:extLst>
            <c:ext xmlns:c16="http://schemas.microsoft.com/office/drawing/2014/chart" uri="{C3380CC4-5D6E-409C-BE32-E72D297353CC}">
              <c16:uniqueId val="{00000001-D1EA-484B-A78C-8876826F759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545"/>
                </a:solidFill>
                <a:latin typeface="Calibri"/>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6350" cap="flat">
              <a:solidFill>
                <a:srgbClr val="E1E6EC"/>
              </a:solidFill>
              <a:prstDash val="solid"/>
              <a:round/>
            </a:ln>
          </c:spPr>
        </c:majorGridlines>
        <c:title>
          <c:tx>
            <c:rich>
              <a:bodyPr/>
              <a:lstStyle/>
              <a:p>
                <a:pPr>
                  <a:defRPr sz="1100" b="0" i="0" u="none" strike="noStrike">
                    <a:solidFill>
                      <a:srgbClr val="5A6B7F"/>
                    </a:solidFill>
                    <a:latin typeface="Calibri"/>
                  </a:defRPr>
                </a:pPr>
                <a:r>
                  <a:rPr lang="en-US" sz="1100" b="0" i="0" u="none" strike="noStrike">
                    <a:solidFill>
                      <a:srgbClr val="5A6B7F"/>
                    </a:solidFill>
                    <a:latin typeface="Calibri"/>
                  </a:rPr>
                  <a:t>Percent (%)</a:t>
                </a:r>
              </a:p>
            </c:rich>
          </c:tx>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A6B7F"/>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0B254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US" sz="1300" b="0" i="0" u="none" strike="noStrike">
                <a:solidFill>
                  <a:srgbClr val="0B2545"/>
                </a:solidFill>
                <a:latin typeface="Calibri"/>
              </a:rPr>
              <a:t>Top 10 original predictors</a:t>
            </a:r>
          </a:p>
        </c:rich>
      </c:tx>
      <c:overlay val="0"/>
    </c:title>
    <c:autoTitleDeleted val="0"/>
    <c:plotArea>
      <c:layout/>
      <c:barChart>
        <c:barDir val="bar"/>
        <c:grouping val="clustered"/>
        <c:varyColors val="0"/>
        <c:ser>
          <c:idx val="0"/>
          <c:order val="0"/>
          <c:tx>
            <c:strRef>
              <c:f>Sheet1!$B$1</c:f>
              <c:strCache>
                <c:ptCount val="1"/>
                <c:pt idx="0">
                  <c:v>Mean decrease in validation PR-AUC</c:v>
                </c:pt>
              </c:strCache>
            </c:strRef>
          </c:tx>
          <c:spPr>
            <a:solidFill>
              <a:srgbClr val="3E7C85"/>
            </a:solidFill>
            <a:effectLst/>
          </c:spPr>
          <c:invertIfNegative val="0"/>
          <c:dLbls>
            <c:numFmt formatCode="0.0000" sourceLinked="0"/>
            <c:spPr>
              <a:noFill/>
              <a:ln>
                <a:noFill/>
              </a:ln>
              <a:effectLst/>
            </c:spPr>
            <c:txPr>
              <a:bodyPr/>
              <a:lstStyle/>
              <a:p>
                <a:pPr>
                  <a:defRPr sz="1200" b="1" i="0" u="none" strike="noStrike">
                    <a:solidFill>
                      <a:srgbClr val="0B254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_AGE80 (age)</c:v>
                </c:pt>
                <c:pt idx="1">
                  <c:v>GENHLTH (general health)</c:v>
                </c:pt>
                <c:pt idx="2">
                  <c:v>_SEX (sex)</c:v>
                </c:pt>
                <c:pt idx="3">
                  <c:v>CVDSTRK3 (stroke history)</c:v>
                </c:pt>
                <c:pt idx="4">
                  <c:v>PERSDOC3 (personal doctor)</c:v>
                </c:pt>
                <c:pt idx="5">
                  <c:v>DIABETE4 (diabetes)</c:v>
                </c:pt>
                <c:pt idx="6">
                  <c:v>CHCKDNY2 (kidney disease)</c:v>
                </c:pt>
                <c:pt idx="7">
                  <c:v>CHCCOPD3 (COPD)</c:v>
                </c:pt>
                <c:pt idx="8">
                  <c:v>_RACE (race)</c:v>
                </c:pt>
                <c:pt idx="9">
                  <c:v>_SMOKER3 (smoking status)</c:v>
                </c:pt>
              </c:strCache>
            </c:strRef>
          </c:cat>
          <c:val>
            <c:numRef>
              <c:f>Sheet1!$B$2:$B$11</c:f>
              <c:numCache>
                <c:formatCode>General</c:formatCode>
                <c:ptCount val="10"/>
                <c:pt idx="0">
                  <c:v>7.7214000000000005E-2</c:v>
                </c:pt>
                <c:pt idx="1">
                  <c:v>4.3380000000000002E-2</c:v>
                </c:pt>
                <c:pt idx="2">
                  <c:v>3.8017000000000002E-2</c:v>
                </c:pt>
                <c:pt idx="3">
                  <c:v>3.0589000000000002E-2</c:v>
                </c:pt>
                <c:pt idx="4">
                  <c:v>1.2699E-2</c:v>
                </c:pt>
                <c:pt idx="5">
                  <c:v>9.5849999999999998E-3</c:v>
                </c:pt>
                <c:pt idx="6">
                  <c:v>8.7589999999999994E-3</c:v>
                </c:pt>
                <c:pt idx="7">
                  <c:v>7.7720000000000003E-3</c:v>
                </c:pt>
                <c:pt idx="8">
                  <c:v>4.4219999999999997E-3</c:v>
                </c:pt>
                <c:pt idx="9">
                  <c:v>4.3819999999999996E-3</c:v>
                </c:pt>
              </c:numCache>
            </c:numRef>
          </c:val>
          <c:extLst>
            <c:ext xmlns:c16="http://schemas.microsoft.com/office/drawing/2014/chart" uri="{C3380CC4-5D6E-409C-BE32-E72D297353CC}">
              <c16:uniqueId val="{00000000-5739-4D30-B5FF-08D3BBFED172}"/>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2545"/>
                </a:solidFill>
                <a:latin typeface="Calibri"/>
              </a:defRPr>
            </a:pPr>
            <a:endParaRPr lang="en-US"/>
          </a:p>
        </c:txPr>
        <c:crossAx val="2094734552"/>
        <c:crosses val="autoZero"/>
        <c:auto val="1"/>
        <c:lblAlgn val="ctr"/>
        <c:lblOffset val="100"/>
        <c:noMultiLvlLbl val="1"/>
      </c:catAx>
      <c:valAx>
        <c:axId val="2094734552"/>
        <c:scaling>
          <c:orientation val="minMax"/>
          <c:max val="0.1"/>
          <c:min val="0"/>
        </c:scaling>
        <c:delete val="0"/>
        <c:axPos val="t"/>
        <c:majorGridlines>
          <c:spPr>
            <a:ln w="6350" cap="flat">
              <a:solidFill>
                <a:srgbClr val="E1E6EC"/>
              </a:solidFill>
              <a:prstDash val="solid"/>
              <a:round/>
            </a:ln>
          </c:spPr>
        </c:majorGridlines>
        <c:title>
          <c:tx>
            <c:rich>
              <a:bodyPr/>
              <a:lstStyle/>
              <a:p>
                <a:pPr>
                  <a:defRPr sz="1100" b="0" i="0" u="none" strike="noStrike">
                    <a:solidFill>
                      <a:srgbClr val="5A6B7F"/>
                    </a:solidFill>
                    <a:latin typeface="Calibri"/>
                  </a:defRPr>
                </a:pPr>
                <a:r>
                  <a:rPr lang="en-US" sz="1100" b="0" i="0" u="none" strike="noStrike">
                    <a:solidFill>
                      <a:srgbClr val="5A6B7F"/>
                    </a:solidFill>
                    <a:latin typeface="Calibri"/>
                  </a:rPr>
                  <a:t>Mean decrease in validation PR-AUC (grouped permutation)</a:t>
                </a:r>
              </a:p>
            </c:rich>
          </c:tx>
          <c:overlay val="0"/>
        </c:title>
        <c:numFmt formatCode="0.00" sourceLinked="0"/>
        <c:majorTickMark val="out"/>
        <c:minorTickMark val="none"/>
        <c:tickLblPos val="low"/>
        <c:spPr>
          <a:ln w="12700" cap="flat">
            <a:noFill/>
            <a:prstDash val="solid"/>
            <a:round/>
          </a:ln>
        </c:spPr>
        <c:txPr>
          <a:bodyPr/>
          <a:lstStyle/>
          <a:p>
            <a:pPr>
              <a:defRPr sz="1100" b="0" i="0" u="none" strike="noStrike">
                <a:solidFill>
                  <a:srgbClr val="5A6B7F"/>
                </a:solidFill>
                <a:latin typeface="Calibri"/>
              </a:defRPr>
            </a:pPr>
            <a:endParaRPr lang="en-US"/>
          </a:p>
        </c:txPr>
        <c:crossAx val="2094734554"/>
        <c:crosses val="autoZero"/>
        <c:crossBetween val="between"/>
        <c:majorUnit val="0.02"/>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0186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pitch: we built a reproducible framework that takes a large public health survey, models self-reported heart disease history, and explains what the model does, without overclaiming. Stress early that the target is disease HISTORY, not future onset, and that this is research, not a clinical tool. The network on the right is purely illustrative. Say clearly that this is an academic analysis of CDC survey data, not a clinical tool. The affiliation line is not in the project files, so add it on this slide if your course requires it. Transition: why this problem needs careful evaluation.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challenges motivate every design choice later. Survey data is large and messy. The outcome is imbalanced: only 9.36% of respondents are positive, so a model that always says negative would look about 90% accurate and be useless. BRFSS is a weighted survey, so sample percentages are not population percentages. And a score alone is not enough; people need to see how the model behaves. Likely question: why not just use accuracy? Answer: because of imbalance, which is why we use PR-AUC, sensitivity and threshold analysis. Objectives (from the project report): population-health EDA; demographic and health patterns; build and compare ML models; imbalance-aware evaluation; threshold analysis; explainable AI; dashboard communication; limitations and future work. Related work: BRFSS studies [3], [9] handle imbalance mainly by resampling (SMOTE variants); our design compares class weighting and reports PR-AUC, Brier score and threshold analysis. Review [27] notes weak reporting of modeling procedures in population-health ML, which motivates our emphasis on documented, reproducible steps. Transition: the dataset.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the CDC BRFSS 2024 combined landline and cellular file. After outcome eligibility filtering we have 452,464 respondents: 42,338 positive and 410,126 negative. Point to the two prevalence numbers: 9.36% is the raw sample proportion; 6.80% is survey-weighted, which is closer to the population. They differ because respondents are not equally representative. Never quote 9.36% as a national rate. External check: the CDC page for the 2024 public file lists 457,670 records, so 452,464 is the post-eligibility analytical cohort (the 5,206 difference is our arithmetic, not a reported figure). Transition: what exactly is the label?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_MICHD is a CDC-calculated binary variable built from two survey questions: CVDINFR4 (heart attack) and CVDCRHD4 (coronary heart disease). A respondent is positive if either is positive. Because the label is literally computed from those two columns, leaving them in the predictors would let the model rebuild the answer: target leakage. We removed them, along with _LLCPWT, _STSTR, _PSU and _STATE. Key phrase for questions: we predict reported history from other survey answers; we do not predict future cardiovascular events. Related work on BRFSS 2024 also stresses leakage-safe validation [17]; we address leakage through predictor exclusion and training-only preprocessing. Transition: the pipeline.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stages in order and say what each protects against. Data quality and eligibility define a valid cohort. Feature engineering and leakage prevention keep target information out. The split is stratified 70/15/15 with seed 42, so all sets have the same positive rate and results are reproducible. Training fits models; validation picks the champion and threshold; the holdout is touched once. Explainability then runs on the frozen champion. Likely question: where could leakage still occur? Answer: through preprocessing fit on all data, which we avoid by fitting only on training. Transition: preprocessing and the split.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 original predictors (4 continuous, 34 categorical) become 190 features after imputation, scaling and one-hot encoding. The split is stratified 70/15/15 with seed 42: 316,724 train, 67,870 validation, 67,870 test. The key sentence: the imputer, scaler and encoder are fitted on the training partition only, and then applied unchanged to validation and test. That prevents information from held-out data leaking into the pipeline. Note the split is by respondent, not longitudinal, because the data are cross-sectional. Reproducibility: fixed seed 42, preserved raw data, documented transformations and a retained original-to-transformed feature mapping. Transition: exploratory findings.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and statistical findings are quoted from the project report (Sec. 6.2). The odds ratios come from a documented multivariable analysis; they are adjusted ASSOCIATIONS, not causal effects. The report sentence says "the selected outcome" and does not restate that it is _MICHD, and it does not name the three behavioral risk factors in the combined-risk comparison; confirm both against the analysis files before presenting. The 3.22% to 12.44% comparison is descriptive and weighted. Arthritis (HAVARTH4) is shown to illustrate again how weighted and unweighted prevalence differ. Confidence intervals were not reported in the text we hold, so none are shown. Transition: now the models.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compare two model families and two weighting strategies. Logistic regression (L2, C=1.0) is the interpretable linear baseline. HistGradientBoostingClassifier can capture nonlinearity and interactions among health variables. Class weighting asks whether upweighting the rare positive class helps. This is a 2 by 2 design, so differences are attributable to either family or weighting. Selection used validation PR-AUC because the positive class is rare. The unweighted gradient boosting model has the highest PR-AUC (0.3701) and the lowest Brier score (0.0700). Be honest: the class-weighted gradient boosting model has a marginally higher ROC-AUC (0.8450 vs 0.8449), but ROC-AUC was not the selection criterion. Class weighting did not help PR-AUC and roughly doubled the Brier score, meaning poorer probability accuracy. Differences in PR-AUC are small, so we do not claim a large win; we claim a principled choice. Transition: the threshold. Metric meaning: PR-AUC measures how well positives are retrieved when they are rare; ROC-AUC measures ranking across all thresholds; Brier score is the mean squared error of predicted probabilities (lower is better).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same probabilities, very different behavior. At the default 0.50 the model finds only 10.91% of positives while rejecting 99.26% of negatives. At 0.080 it finds 83.91% of positives but specificity falls to 70.45%. The threshold was chosen on VALIDATION data by maximizing Youden's J = sensitivity + specificity - 1, and locked before the holdout test. Be clear about the cost: more false positives, precision 22.67%. 0.080 is an analytical operating point, not a clinical decision boundary. Likely question: why Youden's J? It balances both error types when no cost ratio is defined; a clinical setting would choose by cost. Note: the sensitivity and specificity shown at both thresholds are holdout test results; the threshold itself was chosen on validation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final test numbers on 67,870 held-out respondents (6,350 positive, 61,520 negative). The top row is threshold-independent discrimination and probability accuracy: PR-AUC 0.3808, ROC-AUC 0.8492, Brier 0.0694. The grid below depends on threshold 0.080. Read the confusion matrix: 5,328 true positives, 1,022 missed, 18,179 false positives, 43,341 true negatives. NPV is high mostly because prevalence is low; precision of 22.67% shows the false-positive burden. The test set was never used for model selection or threshold choice. Survey-weighted holdout metrics (sensitivity 80.44%, specificity 79.46%) were descriptive only, with no design-based variance. Metric definitions: sensitivity = TP/(TP+FN); specificity = TN/(TN+FP); precision = TP/(TP+FP); NPV = TN/(TN+FN); F1 = harmonic mean of precision and sensitivity; balanced accuracy = mean of sensitivity and specificity. We recomputed these from the confusion matrix: sensitivity 83.91%, specificity 70.45%, precision 22.67%, F1 0.3569 and balanced accuracy 77.18% match; NPV comes to 97.696%, which rounds to 97.70% while the report states 97.69%, a rounding difference to confirm. Counts sum to 67,870. Transition: what drives these predictions?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Grouped permutation importance on the validation set: age (_AGE80) produces by far the largest PR-AUC drop, 0.077214, followed by general health (GENHLTH), sex (_SEX) and stroke history (CVDSTRK3). Read the axis carefully: it is the mean decrease in validation PR-AUC after permuting that variable group. It tells us what the fitted model relies on, not what causes heart disease. Correlated predictors can share importance, so rankings depend on which variables are present. Note stroke history is a related condition, so its high rank is plausible but is not a causal claim. Standard deviations were reported for the top five only.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complementary methods. Grouped permutation importance is GLOBAL: it shuffles all encoded columns of one original variable together and measures the drop in validation PR-AUC. Partial dependence shows how average predicted probability moves with age, physically unhealthy days and BMI. For age, the plotted curve (Figure 18, Panel A in the project report) rises steadily, crossing the 0.080 threshold line near age 30 to 31 and reaching roughly 0.62 at age 80; these values are read from the plot and are approximate. NOTE: the written report states the probability crosses 0.080 near age 54 and exceeds 23% at age 80. That does not match the plotted curve (at age 54 the curve is about 0.31), so this deck uses the plotted values. Verify against the underlying PDP data before the final submission. Local marginal perturbation (200-observation background) and local Ridge surrogates are CASE-LEVEL explanations for true/false positives and negatives; surrogate R-squared above 0.93 means the surrogate mimics the model locally, not that the model is 93% accurate. The project report also contains a local-explanation figure for four representative cases, which is too dense for a slide; keep it as a backup. Important: these describe model behavior, not causes. Transition: which variables matter most globally?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documents a single-page dashboard titled Population Health Analytics &amp; Explainable ML: CDC BRFSS 2024, using precomputed JSON (about 172 KB) with HTML5, CSS3, JavaScript and Plotly.js. No dashboard screenshots were supplied, so the right panel is a conceptual wireframe, not the application. STATUS CONFLICT: the report text says architecture, precomputed data and the initial interface are complete while the final integration audit and packaging, and reproducibility verification, remain pending; the same report milestone table marks Milestone 8 Stage 4 and Milestone 9 as Completed and cautions that statuses are not independent verification. We therefore claim only the initial implementation. Resolve this before presenting. Transition: limitations.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these calmly; naming limits shows we understand the evidence. Cross-sectional and self-reported means no temporal ordering and possible recall bias. Imbalance means precision stays low at 0.080. We did not do design-based variance estimation with strata and PSUs, so weighted metrics are point estimates. No external validation yet. Explanations are not causal. No clinical validation. If asked why the model is still valuable: it is a well-controlled methodological demonstration, and these items are our future work. Close by restating the contributions, in order: integrated population health analytics; leakage-safe modeling; validation-based selection; threshold-aware evaluation; explainable AI; interactive communication. Then future work: complete survey-based uncertainty, external validation, subgroup performance and fairness, explanation stability, and final dashboard integration and reproducibility verification. End on the closing line. Reference: CDC, 2024 BRFSS Survey Data and Documentation, cdc.gov/brfss/annual_data/annual_2024.html.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taken from the project literature review; this slide shows a selection, not the full bibliography (31 entries in the review). Titles, venues and DOIs are copied from the project bibliography and were not independently verified here; several are dated 2026. Only the CDC page was checked online. Be ready for questions on imbalance, survey weighting, leakage, threshold choice, explainability and limitations (see earlier notes). Close by thanking the evaluators.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DY">
    <p:bg>
      <p:bgPr>
        <a:solidFill>
          <a:srgbClr val="F4F6F9"/>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822960"/>
            <a:ext cx="822960" cy="45720"/>
          </a:xfrm>
          <a:prstGeom prst="rect">
            <a:avLst/>
          </a:prstGeom>
          <a:solidFill>
            <a:srgbClr val="7FAAB0"/>
          </a:solidFill>
          <a:ln w="12700">
            <a:solidFill>
              <a:srgbClr val="7FAAB0"/>
            </a:solidFill>
            <a:prstDash val="solid"/>
          </a:ln>
        </p:spPr>
      </p:sp>
      <p:sp>
        <p:nvSpPr>
          <p:cNvPr id="3" name="Text 1"/>
          <p:cNvSpPr txBox="1"/>
          <p:nvPr/>
        </p:nvSpPr>
        <p:spPr>
          <a:xfrm>
            <a:off x="548640" y="1005840"/>
            <a:ext cx="7680960" cy="1737360"/>
          </a:xfrm>
          <a:prstGeom prst="rect">
            <a:avLst/>
          </a:prstGeom>
          <a:noFill/>
          <a:ln/>
        </p:spPr>
        <p:txBody>
          <a:bodyPr wrap="square" lIns="0" tIns="0" rIns="0" bIns="0" rtlCol="0" anchor="t"/>
          <a:lstStyle/>
          <a:p>
            <a:pPr marL="0" indent="0">
              <a:buNone/>
            </a:pPr>
            <a:r>
              <a:rPr lang="en-US" sz="2800" b="1" dirty="0">
                <a:solidFill>
                  <a:srgbClr val="FFFFFF"/>
                </a:solidFill>
                <a:latin typeface="Georgia" pitchFamily="34" charset="0"/>
                <a:ea typeface="Georgia" pitchFamily="34" charset="-122"/>
                <a:cs typeface="Georgia" pitchFamily="34" charset="-120"/>
              </a:rPr>
              <a:t>An Explainable Data-Driven Framework for Population Health Analytics and Predictive Modeling Using CDC BRFSS 2024</a:t>
            </a:r>
            <a:endParaRPr lang="en-US" sz="2800" dirty="0"/>
          </a:p>
        </p:txBody>
      </p:sp>
      <p:sp>
        <p:nvSpPr>
          <p:cNvPr id="4" name="Text 2"/>
          <p:cNvSpPr txBox="1"/>
          <p:nvPr/>
        </p:nvSpPr>
        <p:spPr>
          <a:xfrm>
            <a:off x="548640" y="3235157"/>
            <a:ext cx="7680960" cy="320040"/>
          </a:xfrm>
          <a:prstGeom prst="rect">
            <a:avLst/>
          </a:prstGeom>
          <a:noFill/>
          <a:ln/>
        </p:spPr>
        <p:txBody>
          <a:bodyPr wrap="square" lIns="0" tIns="0" rIns="0" bIns="0" rtlCol="0" anchor="t"/>
          <a:lstStyle/>
          <a:p>
            <a:pPr marL="0" indent="0">
              <a:buNone/>
            </a:pPr>
            <a:r>
              <a:rPr lang="en-US" sz="1800" dirty="0">
                <a:solidFill>
                  <a:srgbClr val="CFE3E6"/>
                </a:solidFill>
                <a:latin typeface="Calibri" pitchFamily="34" charset="0"/>
                <a:ea typeface="Calibri" pitchFamily="34" charset="-122"/>
                <a:cs typeface="Calibri" pitchFamily="34" charset="-120"/>
              </a:rPr>
              <a:t>Yukti Madan | 23070521227</a:t>
            </a:r>
            <a:endParaRPr lang="en-US" sz="1800" dirty="0"/>
          </a:p>
        </p:txBody>
      </p:sp>
      <p:sp>
        <p:nvSpPr>
          <p:cNvPr id="5" name="Text 3"/>
          <p:cNvSpPr txBox="1"/>
          <p:nvPr/>
        </p:nvSpPr>
        <p:spPr>
          <a:xfrm>
            <a:off x="548640" y="3954780"/>
            <a:ext cx="7680960" cy="3200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_MICHD: self-reported history of heart attack or coronary heart disease</a:t>
            </a:r>
            <a:endParaRPr lang="en-US" sz="1500" dirty="0"/>
          </a:p>
        </p:txBody>
      </p:sp>
      <p:sp>
        <p:nvSpPr>
          <p:cNvPr id="6" name="Text 4"/>
          <p:cNvSpPr txBox="1"/>
          <p:nvPr/>
        </p:nvSpPr>
        <p:spPr>
          <a:xfrm>
            <a:off x="548640" y="4297680"/>
            <a:ext cx="7680960" cy="274320"/>
          </a:xfrm>
          <a:prstGeom prst="rect">
            <a:avLst/>
          </a:prstGeom>
          <a:noFill/>
          <a:ln/>
        </p:spPr>
        <p:txBody>
          <a:bodyPr wrap="square" lIns="0" tIns="0" rIns="0" bIns="0" rtlCol="0" anchor="t"/>
          <a:lstStyle/>
          <a:p>
            <a:pPr marL="0" indent="0">
              <a:buNone/>
            </a:pPr>
            <a:r>
              <a:rPr lang="en-US" sz="1100" dirty="0">
                <a:solidFill>
                  <a:srgbClr val="B8C7D9"/>
                </a:solidFill>
                <a:latin typeface="Calibri" pitchFamily="34" charset="0"/>
                <a:ea typeface="Calibri" pitchFamily="34" charset="-122"/>
                <a:cs typeface="Calibri" pitchFamily="34" charset="-120"/>
              </a:rPr>
              <a:t>Data: CDC BRFSS 2024, combined landline and cellular file  |  cdc.gov/brfss/annual_data/annual_2024.html</a:t>
            </a:r>
            <a:endParaRPr lang="en-US" sz="1100" dirty="0"/>
          </a:p>
        </p:txBody>
      </p:sp>
      <p:sp>
        <p:nvSpPr>
          <p:cNvPr id="8" name="Text 2">
            <a:extLst>
              <a:ext uri="{FF2B5EF4-FFF2-40B4-BE49-F238E27FC236}">
                <a16:creationId xmlns:a16="http://schemas.microsoft.com/office/drawing/2014/main" id="{4D5643AC-F802-0FF5-32F4-D2636AC0BA15}"/>
              </a:ext>
            </a:extLst>
          </p:cNvPr>
          <p:cNvSpPr txBox="1"/>
          <p:nvPr/>
        </p:nvSpPr>
        <p:spPr>
          <a:xfrm>
            <a:off x="548640" y="2784411"/>
            <a:ext cx="7680960" cy="320040"/>
          </a:xfrm>
          <a:prstGeom prst="rect">
            <a:avLst/>
          </a:prstGeom>
          <a:noFill/>
          <a:ln/>
        </p:spPr>
        <p:txBody>
          <a:bodyPr wrap="square" lIns="0" tIns="0" rIns="0" bIns="0" rtlCol="0" anchor="t"/>
          <a:lstStyle/>
          <a:p>
            <a:pPr marL="0" indent="0">
              <a:buNone/>
            </a:pPr>
            <a:r>
              <a:rPr lang="en-US" sz="1800" dirty="0">
                <a:solidFill>
                  <a:srgbClr val="CFE3E6"/>
                </a:solidFill>
                <a:latin typeface="Calibri" pitchFamily="34" charset="0"/>
                <a:ea typeface="Calibri" pitchFamily="34" charset="-122"/>
                <a:cs typeface="Calibri" pitchFamily="34" charset="-120"/>
              </a:rPr>
              <a:t>Healthcare Analytics  |  CA-3 Project Presentation</a:t>
            </a:r>
            <a:endParaRPr lang="en-US" sz="1800" dirty="0"/>
          </a:p>
        </p:txBody>
      </p:sp>
      <p:sp>
        <p:nvSpPr>
          <p:cNvPr id="10" name="Text 2">
            <a:extLst>
              <a:ext uri="{FF2B5EF4-FFF2-40B4-BE49-F238E27FC236}">
                <a16:creationId xmlns:a16="http://schemas.microsoft.com/office/drawing/2014/main" id="{67D936D2-1DD8-FA71-B6D6-BA8BD5009A11}"/>
              </a:ext>
            </a:extLst>
          </p:cNvPr>
          <p:cNvSpPr txBox="1"/>
          <p:nvPr/>
        </p:nvSpPr>
        <p:spPr>
          <a:xfrm>
            <a:off x="548640" y="3504034"/>
            <a:ext cx="7680960" cy="320040"/>
          </a:xfrm>
          <a:prstGeom prst="rect">
            <a:avLst/>
          </a:prstGeom>
          <a:noFill/>
          <a:ln/>
        </p:spPr>
        <p:txBody>
          <a:bodyPr wrap="square" lIns="0" tIns="0" rIns="0" bIns="0" rtlCol="0" anchor="t"/>
          <a:lstStyle/>
          <a:p>
            <a:pPr marL="0" indent="0">
              <a:buNone/>
            </a:pPr>
            <a:r>
              <a:rPr lang="en-US" sz="1800" dirty="0">
                <a:solidFill>
                  <a:srgbClr val="CFE3E6"/>
                </a:solidFill>
                <a:latin typeface="Calibri" pitchFamily="34" charset="0"/>
                <a:ea typeface="Calibri" pitchFamily="34" charset="-122"/>
                <a:cs typeface="Calibri" pitchFamily="34" charset="-120"/>
              </a:rPr>
              <a:t>Sumit </a:t>
            </a:r>
            <a:r>
              <a:rPr lang="en-US" sz="1800" dirty="0" err="1">
                <a:solidFill>
                  <a:srgbClr val="CFE3E6"/>
                </a:solidFill>
                <a:latin typeface="Calibri" pitchFamily="34" charset="0"/>
                <a:ea typeface="Calibri" pitchFamily="34" charset="-122"/>
                <a:cs typeface="Calibri" pitchFamily="34" charset="-120"/>
              </a:rPr>
              <a:t>Masirkar</a:t>
            </a:r>
            <a:r>
              <a:rPr lang="en-US" sz="1800" dirty="0">
                <a:solidFill>
                  <a:srgbClr val="CFE3E6"/>
                </a:solidFill>
                <a:latin typeface="Calibri" pitchFamily="34" charset="0"/>
                <a:ea typeface="Calibri" pitchFamily="34" charset="-122"/>
                <a:cs typeface="Calibri" pitchFamily="34" charset="-120"/>
              </a:rPr>
              <a:t> | 23070521203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Imbalanced, Weighted Survey Data Demand More Than Accuracy</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Text 2"/>
          <p:cNvSpPr txBox="1"/>
          <p:nvPr/>
        </p:nvSpPr>
        <p:spPr>
          <a:xfrm>
            <a:off x="457200" y="1280160"/>
            <a:ext cx="475488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PROJECT OBJECTIVES</a:t>
            </a:r>
            <a:endParaRPr lang="en-US" sz="1200" dirty="0"/>
          </a:p>
        </p:txBody>
      </p:sp>
      <p:sp>
        <p:nvSpPr>
          <p:cNvPr id="6" name="Shape 3"/>
          <p:cNvSpPr/>
          <p:nvPr/>
        </p:nvSpPr>
        <p:spPr>
          <a:xfrm>
            <a:off x="457200" y="1636776"/>
            <a:ext cx="310896" cy="310896"/>
          </a:xfrm>
          <a:prstGeom prst="ellipse">
            <a:avLst/>
          </a:prstGeom>
          <a:solidFill>
            <a:srgbClr val="3E7C85"/>
          </a:solidFill>
          <a:ln w="12700">
            <a:solidFill>
              <a:srgbClr val="3E7C85"/>
            </a:solidFill>
            <a:prstDash val="solid"/>
          </a:ln>
        </p:spPr>
      </p:sp>
      <p:sp>
        <p:nvSpPr>
          <p:cNvPr id="7" name="Text 4"/>
          <p:cNvSpPr txBox="1"/>
          <p:nvPr/>
        </p:nvSpPr>
        <p:spPr>
          <a:xfrm>
            <a:off x="457200" y="163677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868680" y="1600200"/>
            <a:ext cx="2011680" cy="640080"/>
          </a:xfrm>
          <a:prstGeom prst="rect">
            <a:avLst/>
          </a:prstGeom>
          <a:noFill/>
          <a:ln/>
        </p:spPr>
        <p:txBody>
          <a:bodyPr wrap="square" lIns="0" tIns="0" rIns="0" bIns="0" rtlCol="0" anchor="t"/>
          <a:lstStyle/>
          <a:p>
            <a:pPr marL="0" indent="0">
              <a:buNone/>
            </a:pPr>
            <a:r>
              <a:rPr lang="en-US" sz="1250" dirty="0">
                <a:solidFill>
                  <a:srgbClr val="0B2545"/>
                </a:solidFill>
                <a:latin typeface="Calibri" pitchFamily="34" charset="0"/>
                <a:ea typeface="Calibri" pitchFamily="34" charset="-122"/>
                <a:cs typeface="Calibri" pitchFamily="34" charset="-120"/>
              </a:rPr>
              <a:t>Population-health exploratory analysis</a:t>
            </a:r>
            <a:endParaRPr lang="en-US" sz="1250" dirty="0"/>
          </a:p>
        </p:txBody>
      </p:sp>
      <p:sp>
        <p:nvSpPr>
          <p:cNvPr id="9" name="Shape 6"/>
          <p:cNvSpPr/>
          <p:nvPr/>
        </p:nvSpPr>
        <p:spPr>
          <a:xfrm>
            <a:off x="457200" y="2350008"/>
            <a:ext cx="310896" cy="310896"/>
          </a:xfrm>
          <a:prstGeom prst="ellipse">
            <a:avLst/>
          </a:prstGeom>
          <a:solidFill>
            <a:srgbClr val="3E7C85"/>
          </a:solidFill>
          <a:ln w="12700">
            <a:solidFill>
              <a:srgbClr val="3E7C85"/>
            </a:solidFill>
            <a:prstDash val="solid"/>
          </a:ln>
        </p:spPr>
      </p:sp>
      <p:sp>
        <p:nvSpPr>
          <p:cNvPr id="10" name="Text 7"/>
          <p:cNvSpPr txBox="1"/>
          <p:nvPr/>
        </p:nvSpPr>
        <p:spPr>
          <a:xfrm>
            <a:off x="457200" y="23500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txBox="1"/>
          <p:nvPr/>
        </p:nvSpPr>
        <p:spPr>
          <a:xfrm>
            <a:off x="868680" y="2313432"/>
            <a:ext cx="2011680" cy="640080"/>
          </a:xfrm>
          <a:prstGeom prst="rect">
            <a:avLst/>
          </a:prstGeom>
          <a:noFill/>
          <a:ln/>
        </p:spPr>
        <p:txBody>
          <a:bodyPr wrap="square" lIns="0" tIns="0" rIns="0" bIns="0" rtlCol="0" anchor="t"/>
          <a:lstStyle/>
          <a:p>
            <a:pPr marL="0" indent="0">
              <a:buNone/>
            </a:pPr>
            <a:r>
              <a:rPr lang="en-US" sz="1250" dirty="0">
                <a:solidFill>
                  <a:srgbClr val="0B2545"/>
                </a:solidFill>
                <a:latin typeface="Calibri" pitchFamily="34" charset="0"/>
                <a:ea typeface="Calibri" pitchFamily="34" charset="-122"/>
                <a:cs typeface="Calibri" pitchFamily="34" charset="-120"/>
              </a:rPr>
              <a:t>Demographic and health-related patterns</a:t>
            </a:r>
            <a:endParaRPr lang="en-US" sz="1250" dirty="0"/>
          </a:p>
        </p:txBody>
      </p:sp>
      <p:sp>
        <p:nvSpPr>
          <p:cNvPr id="12" name="Shape 9"/>
          <p:cNvSpPr/>
          <p:nvPr/>
        </p:nvSpPr>
        <p:spPr>
          <a:xfrm>
            <a:off x="457200" y="3063240"/>
            <a:ext cx="310896" cy="310896"/>
          </a:xfrm>
          <a:prstGeom prst="ellipse">
            <a:avLst/>
          </a:prstGeom>
          <a:solidFill>
            <a:srgbClr val="3E7C85"/>
          </a:solidFill>
          <a:ln w="12700">
            <a:solidFill>
              <a:srgbClr val="3E7C85"/>
            </a:solidFill>
            <a:prstDash val="solid"/>
          </a:ln>
        </p:spPr>
      </p:sp>
      <p:sp>
        <p:nvSpPr>
          <p:cNvPr id="13" name="Text 10"/>
          <p:cNvSpPr txBox="1"/>
          <p:nvPr/>
        </p:nvSpPr>
        <p:spPr>
          <a:xfrm>
            <a:off x="457200" y="30632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1"/>
          <p:cNvSpPr txBox="1"/>
          <p:nvPr/>
        </p:nvSpPr>
        <p:spPr>
          <a:xfrm>
            <a:off x="868680" y="3026664"/>
            <a:ext cx="2011680" cy="640080"/>
          </a:xfrm>
          <a:prstGeom prst="rect">
            <a:avLst/>
          </a:prstGeom>
          <a:noFill/>
          <a:ln/>
        </p:spPr>
        <p:txBody>
          <a:bodyPr wrap="square" lIns="0" tIns="0" rIns="0" bIns="0" rtlCol="0" anchor="t"/>
          <a:lstStyle/>
          <a:p>
            <a:pPr marL="0" indent="0">
              <a:buNone/>
            </a:pPr>
            <a:r>
              <a:rPr lang="en-US" sz="1250" dirty="0">
                <a:solidFill>
                  <a:srgbClr val="0B2545"/>
                </a:solidFill>
                <a:latin typeface="Calibri" pitchFamily="34" charset="0"/>
                <a:ea typeface="Calibri" pitchFamily="34" charset="-122"/>
                <a:cs typeface="Calibri" pitchFamily="34" charset="-120"/>
              </a:rPr>
              <a:t>Build and compare machine-learning models</a:t>
            </a:r>
            <a:endParaRPr lang="en-US" sz="1250" dirty="0"/>
          </a:p>
        </p:txBody>
      </p:sp>
      <p:sp>
        <p:nvSpPr>
          <p:cNvPr id="15" name="Shape 12"/>
          <p:cNvSpPr/>
          <p:nvPr/>
        </p:nvSpPr>
        <p:spPr>
          <a:xfrm>
            <a:off x="457200" y="3776472"/>
            <a:ext cx="310896" cy="310896"/>
          </a:xfrm>
          <a:prstGeom prst="ellipse">
            <a:avLst/>
          </a:prstGeom>
          <a:solidFill>
            <a:srgbClr val="3E7C85"/>
          </a:solidFill>
          <a:ln w="12700">
            <a:solidFill>
              <a:srgbClr val="3E7C85"/>
            </a:solidFill>
            <a:prstDash val="solid"/>
          </a:ln>
        </p:spPr>
      </p:sp>
      <p:sp>
        <p:nvSpPr>
          <p:cNvPr id="16" name="Text 13"/>
          <p:cNvSpPr txBox="1"/>
          <p:nvPr/>
        </p:nvSpPr>
        <p:spPr>
          <a:xfrm>
            <a:off x="457200" y="3776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4"/>
          <p:cNvSpPr txBox="1"/>
          <p:nvPr/>
        </p:nvSpPr>
        <p:spPr>
          <a:xfrm>
            <a:off x="868680" y="3739896"/>
            <a:ext cx="2011680" cy="640080"/>
          </a:xfrm>
          <a:prstGeom prst="rect">
            <a:avLst/>
          </a:prstGeom>
          <a:noFill/>
          <a:ln/>
        </p:spPr>
        <p:txBody>
          <a:bodyPr wrap="square" lIns="0" tIns="0" rIns="0" bIns="0" rtlCol="0" anchor="t"/>
          <a:lstStyle/>
          <a:p>
            <a:pPr marL="0" indent="0">
              <a:buNone/>
            </a:pPr>
            <a:r>
              <a:rPr lang="en-US" sz="1250" dirty="0">
                <a:solidFill>
                  <a:srgbClr val="0B2545"/>
                </a:solidFill>
                <a:latin typeface="Calibri" pitchFamily="34" charset="0"/>
                <a:ea typeface="Calibri" pitchFamily="34" charset="-122"/>
                <a:cs typeface="Calibri" pitchFamily="34" charset="-120"/>
              </a:rPr>
              <a:t>Imbalance-aware performance evaluation</a:t>
            </a:r>
            <a:endParaRPr lang="en-US" sz="1250" dirty="0"/>
          </a:p>
        </p:txBody>
      </p:sp>
      <p:sp>
        <p:nvSpPr>
          <p:cNvPr id="18" name="Shape 15"/>
          <p:cNvSpPr/>
          <p:nvPr/>
        </p:nvSpPr>
        <p:spPr>
          <a:xfrm>
            <a:off x="2971800" y="1636776"/>
            <a:ext cx="310896" cy="310896"/>
          </a:xfrm>
          <a:prstGeom prst="ellipse">
            <a:avLst/>
          </a:prstGeom>
          <a:solidFill>
            <a:srgbClr val="3E7C85"/>
          </a:solidFill>
          <a:ln w="12700">
            <a:solidFill>
              <a:srgbClr val="3E7C85"/>
            </a:solidFill>
            <a:prstDash val="solid"/>
          </a:ln>
        </p:spPr>
      </p:sp>
      <p:sp>
        <p:nvSpPr>
          <p:cNvPr id="19" name="Text 16"/>
          <p:cNvSpPr txBox="1"/>
          <p:nvPr/>
        </p:nvSpPr>
        <p:spPr>
          <a:xfrm>
            <a:off x="2971800" y="163677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7"/>
          <p:cNvSpPr txBox="1"/>
          <p:nvPr/>
        </p:nvSpPr>
        <p:spPr>
          <a:xfrm>
            <a:off x="3383280" y="1600200"/>
            <a:ext cx="2011680" cy="640080"/>
          </a:xfrm>
          <a:prstGeom prst="rect">
            <a:avLst/>
          </a:prstGeom>
          <a:noFill/>
          <a:ln/>
        </p:spPr>
        <p:txBody>
          <a:bodyPr wrap="square" lIns="0" tIns="0" rIns="0" bIns="0" rtlCol="0" anchor="t"/>
          <a:lstStyle/>
          <a:p>
            <a:pPr marL="0" indent="0">
              <a:buNone/>
            </a:pPr>
            <a:r>
              <a:rPr lang="en-US" sz="1250" dirty="0">
                <a:solidFill>
                  <a:srgbClr val="0B2545"/>
                </a:solidFill>
                <a:latin typeface="Calibri" pitchFamily="34" charset="0"/>
                <a:ea typeface="Calibri" pitchFamily="34" charset="-122"/>
                <a:cs typeface="Calibri" pitchFamily="34" charset="-120"/>
              </a:rPr>
              <a:t>Threshold selection and its consequences</a:t>
            </a:r>
            <a:endParaRPr lang="en-US" sz="1250" dirty="0"/>
          </a:p>
        </p:txBody>
      </p:sp>
      <p:sp>
        <p:nvSpPr>
          <p:cNvPr id="21" name="Shape 18"/>
          <p:cNvSpPr/>
          <p:nvPr/>
        </p:nvSpPr>
        <p:spPr>
          <a:xfrm>
            <a:off x="2971800" y="2350008"/>
            <a:ext cx="310896" cy="310896"/>
          </a:xfrm>
          <a:prstGeom prst="ellipse">
            <a:avLst/>
          </a:prstGeom>
          <a:solidFill>
            <a:srgbClr val="3E7C85"/>
          </a:solidFill>
          <a:ln w="12700">
            <a:solidFill>
              <a:srgbClr val="3E7C85"/>
            </a:solidFill>
            <a:prstDash val="solid"/>
          </a:ln>
        </p:spPr>
      </p:sp>
      <p:sp>
        <p:nvSpPr>
          <p:cNvPr id="22" name="Text 19"/>
          <p:cNvSpPr txBox="1"/>
          <p:nvPr/>
        </p:nvSpPr>
        <p:spPr>
          <a:xfrm>
            <a:off x="2971800" y="23500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0"/>
          <p:cNvSpPr txBox="1"/>
          <p:nvPr/>
        </p:nvSpPr>
        <p:spPr>
          <a:xfrm>
            <a:off x="3383280" y="2313432"/>
            <a:ext cx="2011680" cy="640080"/>
          </a:xfrm>
          <a:prstGeom prst="rect">
            <a:avLst/>
          </a:prstGeom>
          <a:noFill/>
          <a:ln/>
        </p:spPr>
        <p:txBody>
          <a:bodyPr wrap="square" lIns="0" tIns="0" rIns="0" bIns="0" rtlCol="0" anchor="t"/>
          <a:lstStyle/>
          <a:p>
            <a:pPr marL="0" indent="0">
              <a:buNone/>
            </a:pPr>
            <a:r>
              <a:rPr lang="en-US" sz="1250" dirty="0">
                <a:solidFill>
                  <a:srgbClr val="0B2545"/>
                </a:solidFill>
                <a:latin typeface="Calibri" pitchFamily="34" charset="0"/>
                <a:ea typeface="Calibri" pitchFamily="34" charset="-122"/>
                <a:cs typeface="Calibri" pitchFamily="34" charset="-120"/>
              </a:rPr>
              <a:t>Explainable AI for model behavior</a:t>
            </a:r>
            <a:endParaRPr lang="en-US" sz="1250" dirty="0"/>
          </a:p>
        </p:txBody>
      </p:sp>
      <p:sp>
        <p:nvSpPr>
          <p:cNvPr id="24" name="Shape 21"/>
          <p:cNvSpPr/>
          <p:nvPr/>
        </p:nvSpPr>
        <p:spPr>
          <a:xfrm>
            <a:off x="2971800" y="3063240"/>
            <a:ext cx="310896" cy="310896"/>
          </a:xfrm>
          <a:prstGeom prst="ellipse">
            <a:avLst/>
          </a:prstGeom>
          <a:solidFill>
            <a:srgbClr val="3E7C85"/>
          </a:solidFill>
          <a:ln w="12700">
            <a:solidFill>
              <a:srgbClr val="3E7C85"/>
            </a:solidFill>
            <a:prstDash val="solid"/>
          </a:ln>
        </p:spPr>
      </p:sp>
      <p:sp>
        <p:nvSpPr>
          <p:cNvPr id="25" name="Text 22"/>
          <p:cNvSpPr txBox="1"/>
          <p:nvPr/>
        </p:nvSpPr>
        <p:spPr>
          <a:xfrm>
            <a:off x="2971800" y="30632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6" name="Text 23"/>
          <p:cNvSpPr txBox="1"/>
          <p:nvPr/>
        </p:nvSpPr>
        <p:spPr>
          <a:xfrm>
            <a:off x="3383280" y="3026664"/>
            <a:ext cx="2011680" cy="640080"/>
          </a:xfrm>
          <a:prstGeom prst="rect">
            <a:avLst/>
          </a:prstGeom>
          <a:noFill/>
          <a:ln/>
        </p:spPr>
        <p:txBody>
          <a:bodyPr wrap="square" lIns="0" tIns="0" rIns="0" bIns="0" rtlCol="0" anchor="t"/>
          <a:lstStyle/>
          <a:p>
            <a:pPr marL="0" indent="0">
              <a:buNone/>
            </a:pPr>
            <a:r>
              <a:rPr lang="en-US" sz="1250" dirty="0">
                <a:solidFill>
                  <a:srgbClr val="0B2545"/>
                </a:solidFill>
                <a:latin typeface="Calibri" pitchFamily="34" charset="0"/>
                <a:ea typeface="Calibri" pitchFamily="34" charset="-122"/>
                <a:cs typeface="Calibri" pitchFamily="34" charset="-120"/>
              </a:rPr>
              <a:t>Dashboard-based communication</a:t>
            </a:r>
            <a:endParaRPr lang="en-US" sz="1250" dirty="0"/>
          </a:p>
        </p:txBody>
      </p:sp>
      <p:sp>
        <p:nvSpPr>
          <p:cNvPr id="27" name="Shape 24"/>
          <p:cNvSpPr/>
          <p:nvPr/>
        </p:nvSpPr>
        <p:spPr>
          <a:xfrm>
            <a:off x="2971800" y="3776472"/>
            <a:ext cx="310896" cy="310896"/>
          </a:xfrm>
          <a:prstGeom prst="ellipse">
            <a:avLst/>
          </a:prstGeom>
          <a:solidFill>
            <a:srgbClr val="3E7C85"/>
          </a:solidFill>
          <a:ln w="12700">
            <a:solidFill>
              <a:srgbClr val="3E7C85"/>
            </a:solidFill>
            <a:prstDash val="solid"/>
          </a:ln>
        </p:spPr>
      </p:sp>
      <p:sp>
        <p:nvSpPr>
          <p:cNvPr id="28" name="Text 25"/>
          <p:cNvSpPr txBox="1"/>
          <p:nvPr/>
        </p:nvSpPr>
        <p:spPr>
          <a:xfrm>
            <a:off x="2971800" y="3776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9" name="Text 26"/>
          <p:cNvSpPr txBox="1"/>
          <p:nvPr/>
        </p:nvSpPr>
        <p:spPr>
          <a:xfrm>
            <a:off x="3383280" y="3739896"/>
            <a:ext cx="2011680" cy="640080"/>
          </a:xfrm>
          <a:prstGeom prst="rect">
            <a:avLst/>
          </a:prstGeom>
          <a:noFill/>
          <a:ln/>
        </p:spPr>
        <p:txBody>
          <a:bodyPr wrap="square" lIns="0" tIns="0" rIns="0" bIns="0" rtlCol="0" anchor="t"/>
          <a:lstStyle/>
          <a:p>
            <a:pPr marL="0" indent="0">
              <a:buNone/>
            </a:pPr>
            <a:r>
              <a:rPr lang="en-US" sz="1250" dirty="0">
                <a:solidFill>
                  <a:srgbClr val="0B2545"/>
                </a:solidFill>
                <a:latin typeface="Calibri" pitchFamily="34" charset="0"/>
                <a:ea typeface="Calibri" pitchFamily="34" charset="-122"/>
                <a:cs typeface="Calibri" pitchFamily="34" charset="-120"/>
              </a:rPr>
              <a:t>Limitations, responsible use, future work</a:t>
            </a:r>
            <a:endParaRPr lang="en-US" sz="1250" dirty="0"/>
          </a:p>
        </p:txBody>
      </p:sp>
      <p:sp>
        <p:nvSpPr>
          <p:cNvPr id="30" name="Shape 27"/>
          <p:cNvSpPr/>
          <p:nvPr/>
        </p:nvSpPr>
        <p:spPr>
          <a:xfrm>
            <a:off x="5623560" y="1280160"/>
            <a:ext cx="3063240" cy="3108960"/>
          </a:xfrm>
          <a:prstGeom prst="rect">
            <a:avLst/>
          </a:prstGeom>
          <a:solidFill>
            <a:srgbClr val="E4EFF0"/>
          </a:solidFill>
          <a:ln w="12700">
            <a:solidFill>
              <a:srgbClr val="E4EFF0"/>
            </a:solidFill>
            <a:prstDash val="solid"/>
          </a:ln>
        </p:spPr>
      </p:sp>
      <p:sp>
        <p:nvSpPr>
          <p:cNvPr id="31" name="Text 28"/>
          <p:cNvSpPr txBox="1"/>
          <p:nvPr/>
        </p:nvSpPr>
        <p:spPr>
          <a:xfrm>
            <a:off x="5760720" y="1371600"/>
            <a:ext cx="283464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WHY IT IS HARD</a:t>
            </a:r>
            <a:endParaRPr lang="en-US" sz="1200" dirty="0"/>
          </a:p>
        </p:txBody>
      </p:sp>
      <p:sp>
        <p:nvSpPr>
          <p:cNvPr id="32" name="Text 29"/>
          <p:cNvSpPr txBox="1"/>
          <p:nvPr/>
        </p:nvSpPr>
        <p:spPr>
          <a:xfrm>
            <a:off x="5760720" y="1691640"/>
            <a:ext cx="2834640" cy="26517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2545"/>
                </a:solidFill>
                <a:latin typeface="Calibri" pitchFamily="34" charset="0"/>
                <a:ea typeface="Calibri" pitchFamily="34" charset="-122"/>
                <a:cs typeface="Calibri" pitchFamily="34" charset="-120"/>
              </a:rPr>
              <a:t>9.36% of the cohort is positive, so accuracy alone misleads</a:t>
            </a:r>
            <a:endParaRPr lang="en-US" sz="1250" dirty="0"/>
          </a:p>
          <a:p>
            <a:pPr marL="342900" indent="-342900">
              <a:spcAft>
                <a:spcPts val="600"/>
              </a:spcAft>
              <a:buSzPct val="100000"/>
              <a:buChar char="•"/>
            </a:pPr>
            <a:r>
              <a:rPr lang="en-US" sz="1250" dirty="0">
                <a:solidFill>
                  <a:srgbClr val="0B2545"/>
                </a:solidFill>
                <a:latin typeface="Calibri" pitchFamily="34" charset="0"/>
                <a:ea typeface="Calibri" pitchFamily="34" charset="-122"/>
                <a:cs typeface="Calibri" pitchFamily="34" charset="-120"/>
              </a:rPr>
              <a:t>Survey weights: sample % is not population %</a:t>
            </a:r>
            <a:endParaRPr lang="en-US" sz="1250" dirty="0"/>
          </a:p>
          <a:p>
            <a:pPr marL="342900" indent="-342900">
              <a:spcAft>
                <a:spcPts val="600"/>
              </a:spcAft>
              <a:buSzPct val="100000"/>
              <a:buChar char="•"/>
            </a:pPr>
            <a:r>
              <a:rPr lang="en-US" sz="1250" dirty="0">
                <a:solidFill>
                  <a:srgbClr val="0B2545"/>
                </a:solidFill>
                <a:latin typeface="Calibri" pitchFamily="34" charset="0"/>
                <a:ea typeface="Calibri" pitchFamily="34" charset="-122"/>
                <a:cs typeface="Calibri" pitchFamily="34" charset="-120"/>
              </a:rPr>
              <a:t>Related BRFSS work addresses imbalance by resampling [3], [9]</a:t>
            </a:r>
            <a:endParaRPr lang="en-US" sz="1250" dirty="0"/>
          </a:p>
          <a:p>
            <a:pPr marL="342900" indent="-342900">
              <a:spcAft>
                <a:spcPts val="600"/>
              </a:spcAft>
              <a:buSzPct val="100000"/>
              <a:buChar char="•"/>
            </a:pPr>
            <a:r>
              <a:rPr lang="en-US" sz="1250" dirty="0">
                <a:solidFill>
                  <a:srgbClr val="0B2545"/>
                </a:solidFill>
                <a:latin typeface="Calibri" pitchFamily="34" charset="0"/>
                <a:ea typeface="Calibri" pitchFamily="34" charset="-122"/>
                <a:cs typeface="Calibri" pitchFamily="34" charset="-120"/>
              </a:rPr>
              <a:t>Population-health ML reporting is often incomplete [27]</a:t>
            </a:r>
            <a:endParaRPr lang="en-US" sz="1250" dirty="0"/>
          </a:p>
        </p:txBody>
      </p:sp>
      <p:sp>
        <p:nvSpPr>
          <p:cNvPr id="4"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452,464 Respondents: 9.36% Positive in Sample, 6.80% Weighted</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Text 2"/>
          <p:cNvSpPr txBox="1"/>
          <p:nvPr/>
        </p:nvSpPr>
        <p:spPr>
          <a:xfrm>
            <a:off x="457200" y="1280160"/>
            <a:ext cx="2377440" cy="457200"/>
          </a:xfrm>
          <a:prstGeom prst="rect">
            <a:avLst/>
          </a:prstGeom>
          <a:noFill/>
          <a:ln/>
        </p:spPr>
        <p:txBody>
          <a:bodyPr wrap="square" lIns="0" tIns="0" rIns="0" bIns="0" rtlCol="0" anchor="t"/>
          <a:lstStyle/>
          <a:p>
            <a:pPr marL="0" indent="0">
              <a:buNone/>
            </a:pPr>
            <a:r>
              <a:rPr lang="en-US" sz="2600" b="1" dirty="0">
                <a:solidFill>
                  <a:srgbClr val="0B2545"/>
                </a:solidFill>
                <a:latin typeface="Georgia" pitchFamily="34" charset="0"/>
                <a:ea typeface="Georgia" pitchFamily="34" charset="-122"/>
                <a:cs typeface="Georgia" pitchFamily="34" charset="-120"/>
              </a:rPr>
              <a:t>452,464</a:t>
            </a:r>
            <a:endParaRPr lang="en-US" sz="2600" dirty="0"/>
          </a:p>
        </p:txBody>
      </p:sp>
      <p:sp>
        <p:nvSpPr>
          <p:cNvPr id="6" name="Text 3"/>
          <p:cNvSpPr txBox="1"/>
          <p:nvPr/>
        </p:nvSpPr>
        <p:spPr>
          <a:xfrm>
            <a:off x="457200" y="1737360"/>
            <a:ext cx="237744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eligible respondents</a:t>
            </a:r>
            <a:endParaRPr lang="en-US" sz="1200" dirty="0"/>
          </a:p>
        </p:txBody>
      </p:sp>
      <p:sp>
        <p:nvSpPr>
          <p:cNvPr id="7" name="Text 4"/>
          <p:cNvSpPr txBox="1"/>
          <p:nvPr/>
        </p:nvSpPr>
        <p:spPr>
          <a:xfrm>
            <a:off x="3108960" y="1280160"/>
            <a:ext cx="2011680" cy="457200"/>
          </a:xfrm>
          <a:prstGeom prst="rect">
            <a:avLst/>
          </a:prstGeom>
          <a:noFill/>
          <a:ln/>
        </p:spPr>
        <p:txBody>
          <a:bodyPr wrap="square" lIns="0" tIns="0" rIns="0" bIns="0" rtlCol="0" anchor="t"/>
          <a:lstStyle/>
          <a:p>
            <a:pPr marL="0" indent="0">
              <a:buNone/>
            </a:pPr>
            <a:r>
              <a:rPr lang="en-US" sz="2600" b="1" dirty="0">
                <a:solidFill>
                  <a:srgbClr val="3E7C85"/>
                </a:solidFill>
                <a:latin typeface="Georgia" pitchFamily="34" charset="0"/>
                <a:ea typeface="Georgia" pitchFamily="34" charset="-122"/>
                <a:cs typeface="Georgia" pitchFamily="34" charset="-120"/>
              </a:rPr>
              <a:t>42,338</a:t>
            </a:r>
            <a:endParaRPr lang="en-US" sz="2600" dirty="0"/>
          </a:p>
        </p:txBody>
      </p:sp>
      <p:sp>
        <p:nvSpPr>
          <p:cNvPr id="8" name="Text 5"/>
          <p:cNvSpPr txBox="1"/>
          <p:nvPr/>
        </p:nvSpPr>
        <p:spPr>
          <a:xfrm>
            <a:off x="3108960" y="1737360"/>
            <a:ext cx="201168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positive (_MICHD)</a:t>
            </a:r>
            <a:endParaRPr lang="en-US" sz="1200" dirty="0"/>
          </a:p>
        </p:txBody>
      </p:sp>
      <p:sp>
        <p:nvSpPr>
          <p:cNvPr id="9" name="Text 6"/>
          <p:cNvSpPr txBox="1"/>
          <p:nvPr/>
        </p:nvSpPr>
        <p:spPr>
          <a:xfrm>
            <a:off x="5394960" y="1280160"/>
            <a:ext cx="2011680" cy="457200"/>
          </a:xfrm>
          <a:prstGeom prst="rect">
            <a:avLst/>
          </a:prstGeom>
          <a:noFill/>
          <a:ln/>
        </p:spPr>
        <p:txBody>
          <a:bodyPr wrap="square" lIns="0" tIns="0" rIns="0" bIns="0" rtlCol="0" anchor="t"/>
          <a:lstStyle/>
          <a:p>
            <a:pPr marL="0" indent="0">
              <a:buNone/>
            </a:pPr>
            <a:r>
              <a:rPr lang="en-US" sz="2600" b="1" dirty="0">
                <a:solidFill>
                  <a:srgbClr val="1F3F6B"/>
                </a:solidFill>
                <a:latin typeface="Georgia" pitchFamily="34" charset="0"/>
                <a:ea typeface="Georgia" pitchFamily="34" charset="-122"/>
                <a:cs typeface="Georgia" pitchFamily="34" charset="-120"/>
              </a:rPr>
              <a:t>410,126</a:t>
            </a:r>
            <a:endParaRPr lang="en-US" sz="2600" dirty="0"/>
          </a:p>
        </p:txBody>
      </p:sp>
      <p:sp>
        <p:nvSpPr>
          <p:cNvPr id="10" name="Text 7"/>
          <p:cNvSpPr txBox="1"/>
          <p:nvPr/>
        </p:nvSpPr>
        <p:spPr>
          <a:xfrm>
            <a:off x="5394960" y="1737360"/>
            <a:ext cx="201168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negative</a:t>
            </a:r>
            <a:endParaRPr lang="en-US" sz="1200" dirty="0"/>
          </a:p>
        </p:txBody>
      </p:sp>
      <p:sp>
        <p:nvSpPr>
          <p:cNvPr id="11" name="Text 8"/>
          <p:cNvSpPr txBox="1"/>
          <p:nvPr/>
        </p:nvSpPr>
        <p:spPr>
          <a:xfrm>
            <a:off x="7406640" y="1280160"/>
            <a:ext cx="1280160" cy="457200"/>
          </a:xfrm>
          <a:prstGeom prst="rect">
            <a:avLst/>
          </a:prstGeom>
          <a:noFill/>
          <a:ln/>
        </p:spPr>
        <p:txBody>
          <a:bodyPr wrap="square" lIns="0" tIns="0" rIns="0" bIns="0" rtlCol="0" anchor="t"/>
          <a:lstStyle/>
          <a:p>
            <a:pPr marL="0" indent="0">
              <a:buNone/>
            </a:pPr>
            <a:r>
              <a:rPr lang="en-US" sz="2000" b="1" dirty="0">
                <a:solidFill>
                  <a:srgbClr val="5A6B7F"/>
                </a:solidFill>
                <a:latin typeface="Georgia" pitchFamily="34" charset="0"/>
                <a:ea typeface="Georgia" pitchFamily="34" charset="-122"/>
                <a:cs typeface="Georgia" pitchFamily="34" charset="-120"/>
              </a:rPr>
              <a:t>9.69 : 1</a:t>
            </a:r>
            <a:endParaRPr lang="en-US" sz="2000" dirty="0"/>
          </a:p>
        </p:txBody>
      </p:sp>
      <p:sp>
        <p:nvSpPr>
          <p:cNvPr id="12" name="Text 9"/>
          <p:cNvSpPr txBox="1"/>
          <p:nvPr/>
        </p:nvSpPr>
        <p:spPr>
          <a:xfrm>
            <a:off x="7406640" y="1737360"/>
            <a:ext cx="128016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neg. : pos.</a:t>
            </a:r>
            <a:endParaRPr lang="en-US" sz="1200" dirty="0"/>
          </a:p>
        </p:txBody>
      </p:sp>
      <p:graphicFrame>
        <p:nvGraphicFramePr>
          <p:cNvPr id="13" name="Chart 0"/>
          <p:cNvGraphicFramePr/>
          <p:nvPr>
            <p:extLst>
              <p:ext uri="{D42A27DB-BD31-4B8C-83A1-F6EECF244321}">
                <p14:modId xmlns:p14="http://schemas.microsoft.com/office/powerpoint/2010/main" val="3259780231"/>
              </p:ext>
            </p:extLst>
          </p:nvPr>
        </p:nvGraphicFramePr>
        <p:xfrm>
          <a:off x="365760" y="2148840"/>
          <a:ext cx="393192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
          <p:cNvGraphicFramePr/>
          <p:nvPr/>
        </p:nvGraphicFramePr>
        <p:xfrm>
          <a:off x="4480560" y="2148840"/>
          <a:ext cx="4206240" cy="2011680"/>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 10"/>
          <p:cNvSpPr txBox="1"/>
          <p:nvPr/>
        </p:nvSpPr>
        <p:spPr>
          <a:xfrm>
            <a:off x="4480560" y="4160520"/>
            <a:ext cx="4206240" cy="274320"/>
          </a:xfrm>
          <a:prstGeom prst="rect">
            <a:avLst/>
          </a:prstGeom>
          <a:noFill/>
          <a:ln/>
        </p:spPr>
        <p:txBody>
          <a:bodyPr wrap="square" lIns="0" tIns="0" rIns="0" bIns="0" rtlCol="0" anchor="t"/>
          <a:lstStyle/>
          <a:p>
            <a:pPr marL="0" indent="0">
              <a:buNone/>
            </a:pPr>
            <a:r>
              <a:rPr lang="en-US" sz="1100" dirty="0">
                <a:solidFill>
                  <a:srgbClr val="5A6B7F"/>
                </a:solidFill>
                <a:latin typeface="Calibri" pitchFamily="34" charset="0"/>
                <a:ea typeface="Calibri" pitchFamily="34" charset="-122"/>
                <a:cs typeface="Calibri" pitchFamily="34" charset="-120"/>
              </a:rPr>
              <a:t>Only the weighted figure approximates the population.</a:t>
            </a:r>
            <a:endParaRPr lang="en-US" sz="1100" dirty="0"/>
          </a:p>
        </p:txBody>
      </p:sp>
      <p:sp>
        <p:nvSpPr>
          <p:cNvPr id="16" name="Text 11"/>
          <p:cNvSpPr txBox="1"/>
          <p:nvPr/>
        </p:nvSpPr>
        <p:spPr>
          <a:xfrm>
            <a:off x="457200" y="4462272"/>
            <a:ext cx="8229600" cy="228600"/>
          </a:xfrm>
          <a:prstGeom prst="rect">
            <a:avLst/>
          </a:prstGeom>
          <a:noFill/>
          <a:ln/>
        </p:spPr>
        <p:txBody>
          <a:bodyPr wrap="square" lIns="0" tIns="0" rIns="0" bIns="0" rtlCol="0" anchor="t"/>
          <a:lstStyle/>
          <a:p>
            <a:pPr marL="0" indent="0">
              <a:buNone/>
            </a:pPr>
            <a:r>
              <a:rPr lang="en-US" sz="1000" i="1" dirty="0">
                <a:solidFill>
                  <a:srgbClr val="5A6B7F"/>
                </a:solidFill>
                <a:latin typeface="Calibri" pitchFamily="34" charset="0"/>
                <a:ea typeface="Calibri" pitchFamily="34" charset="-122"/>
                <a:cs typeface="Calibri" pitchFamily="34" charset="-120"/>
              </a:rPr>
              <a:t>Source: project report, Sec. 5.2; CDC BRFSS 2024 documentation (cdc.gov/brfss/annual_data/annual_2024.html)</a:t>
            </a:r>
            <a:endParaRPr lang="en-US" sz="10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The Target Is Reported History; Its Components Are Excluded</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Shape 2"/>
          <p:cNvSpPr/>
          <p:nvPr/>
        </p:nvSpPr>
        <p:spPr>
          <a:xfrm>
            <a:off x="457200" y="1325880"/>
            <a:ext cx="2468880" cy="868680"/>
          </a:xfrm>
          <a:prstGeom prst="rect">
            <a:avLst/>
          </a:prstGeom>
          <a:solidFill>
            <a:srgbClr val="FFFFFF"/>
          </a:solidFill>
          <a:ln w="19050">
            <a:solidFill>
              <a:srgbClr val="1F3F6B"/>
            </a:solidFill>
            <a:prstDash val="solid"/>
          </a:ln>
        </p:spPr>
      </p:sp>
      <p:sp>
        <p:nvSpPr>
          <p:cNvPr id="6" name="Text 3"/>
          <p:cNvSpPr txBox="1"/>
          <p:nvPr/>
        </p:nvSpPr>
        <p:spPr>
          <a:xfrm>
            <a:off x="457200" y="1417320"/>
            <a:ext cx="2468880" cy="365760"/>
          </a:xfrm>
          <a:prstGeom prst="rect">
            <a:avLst/>
          </a:prstGeom>
          <a:noFill/>
          <a:ln/>
        </p:spPr>
        <p:txBody>
          <a:bodyPr wrap="square" lIns="0" tIns="0" rIns="0" bIns="0" rtlCol="0" anchor="t"/>
          <a:lstStyle/>
          <a:p>
            <a:pPr marL="0" indent="0" algn="ctr">
              <a:buNone/>
            </a:pPr>
            <a:r>
              <a:rPr lang="en-US" sz="1600" b="1" dirty="0">
                <a:solidFill>
                  <a:srgbClr val="0B2545"/>
                </a:solidFill>
                <a:latin typeface="Calibri" pitchFamily="34" charset="0"/>
                <a:ea typeface="Calibri" pitchFamily="34" charset="-122"/>
                <a:cs typeface="Calibri" pitchFamily="34" charset="-120"/>
              </a:rPr>
              <a:t>CVDINFR4</a:t>
            </a:r>
            <a:endParaRPr lang="en-US" sz="1600" dirty="0"/>
          </a:p>
        </p:txBody>
      </p:sp>
      <p:sp>
        <p:nvSpPr>
          <p:cNvPr id="7" name="Text 4"/>
          <p:cNvSpPr txBox="1"/>
          <p:nvPr/>
        </p:nvSpPr>
        <p:spPr>
          <a:xfrm>
            <a:off x="457200" y="1801368"/>
            <a:ext cx="2468880" cy="320040"/>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Heart attack (MI) history</a:t>
            </a:r>
            <a:endParaRPr lang="en-US" sz="1200" dirty="0"/>
          </a:p>
        </p:txBody>
      </p:sp>
      <p:sp>
        <p:nvSpPr>
          <p:cNvPr id="8" name="Shape 5"/>
          <p:cNvSpPr/>
          <p:nvPr/>
        </p:nvSpPr>
        <p:spPr>
          <a:xfrm>
            <a:off x="457200" y="2423160"/>
            <a:ext cx="2468880" cy="868680"/>
          </a:xfrm>
          <a:prstGeom prst="rect">
            <a:avLst/>
          </a:prstGeom>
          <a:solidFill>
            <a:srgbClr val="FFFFFF"/>
          </a:solidFill>
          <a:ln w="19050">
            <a:solidFill>
              <a:srgbClr val="1F3F6B"/>
            </a:solidFill>
            <a:prstDash val="solid"/>
          </a:ln>
        </p:spPr>
      </p:sp>
      <p:sp>
        <p:nvSpPr>
          <p:cNvPr id="9" name="Text 6"/>
          <p:cNvSpPr txBox="1"/>
          <p:nvPr/>
        </p:nvSpPr>
        <p:spPr>
          <a:xfrm>
            <a:off x="457200" y="2514600"/>
            <a:ext cx="2468880" cy="365760"/>
          </a:xfrm>
          <a:prstGeom prst="rect">
            <a:avLst/>
          </a:prstGeom>
          <a:noFill/>
          <a:ln/>
        </p:spPr>
        <p:txBody>
          <a:bodyPr wrap="square" lIns="0" tIns="0" rIns="0" bIns="0" rtlCol="0" anchor="t"/>
          <a:lstStyle/>
          <a:p>
            <a:pPr marL="0" indent="0" algn="ctr">
              <a:buNone/>
            </a:pPr>
            <a:r>
              <a:rPr lang="en-US" sz="1600" b="1" dirty="0">
                <a:solidFill>
                  <a:srgbClr val="0B2545"/>
                </a:solidFill>
                <a:latin typeface="Calibri" pitchFamily="34" charset="0"/>
                <a:ea typeface="Calibri" pitchFamily="34" charset="-122"/>
                <a:cs typeface="Calibri" pitchFamily="34" charset="-120"/>
              </a:rPr>
              <a:t>CVDCRHD4</a:t>
            </a:r>
            <a:endParaRPr lang="en-US" sz="1600" dirty="0"/>
          </a:p>
        </p:txBody>
      </p:sp>
      <p:sp>
        <p:nvSpPr>
          <p:cNvPr id="10" name="Text 7"/>
          <p:cNvSpPr txBox="1"/>
          <p:nvPr/>
        </p:nvSpPr>
        <p:spPr>
          <a:xfrm>
            <a:off x="457200" y="2898648"/>
            <a:ext cx="2468880" cy="320040"/>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Coronary heart disease history</a:t>
            </a:r>
            <a:endParaRPr lang="en-US" sz="1200" dirty="0"/>
          </a:p>
        </p:txBody>
      </p:sp>
      <p:sp>
        <p:nvSpPr>
          <p:cNvPr id="11" name="Shape 8"/>
          <p:cNvSpPr/>
          <p:nvPr/>
        </p:nvSpPr>
        <p:spPr>
          <a:xfrm>
            <a:off x="2971800" y="1764792"/>
            <a:ext cx="457200" cy="502920"/>
          </a:xfrm>
          <a:prstGeom prst="line">
            <a:avLst/>
          </a:prstGeom>
          <a:noFill/>
          <a:ln w="22225">
            <a:solidFill>
              <a:srgbClr val="3E7C85"/>
            </a:solidFill>
            <a:prstDash val="solid"/>
            <a:tailEnd type="triangle"/>
          </a:ln>
        </p:spPr>
      </p:sp>
      <p:sp>
        <p:nvSpPr>
          <p:cNvPr id="12" name="Shape 9"/>
          <p:cNvSpPr/>
          <p:nvPr/>
        </p:nvSpPr>
        <p:spPr>
          <a:xfrm>
            <a:off x="2971800" y="2862072"/>
            <a:ext cx="457200" cy="0"/>
          </a:xfrm>
          <a:prstGeom prst="line">
            <a:avLst/>
          </a:prstGeom>
          <a:noFill/>
          <a:ln w="22225">
            <a:solidFill>
              <a:srgbClr val="3E7C85"/>
            </a:solidFill>
            <a:prstDash val="solid"/>
            <a:tailEnd type="triangle"/>
          </a:ln>
        </p:spPr>
      </p:sp>
      <p:sp>
        <p:nvSpPr>
          <p:cNvPr id="13" name="Shape 10"/>
          <p:cNvSpPr/>
          <p:nvPr/>
        </p:nvSpPr>
        <p:spPr>
          <a:xfrm>
            <a:off x="3474720" y="1737360"/>
            <a:ext cx="2194560" cy="1371600"/>
          </a:xfrm>
          <a:prstGeom prst="rect">
            <a:avLst/>
          </a:prstGeom>
          <a:solidFill>
            <a:srgbClr val="0B2545"/>
          </a:solidFill>
          <a:ln w="12700">
            <a:solidFill>
              <a:srgbClr val="0B2545"/>
            </a:solidFill>
            <a:prstDash val="solid"/>
          </a:ln>
        </p:spPr>
      </p:sp>
      <p:sp>
        <p:nvSpPr>
          <p:cNvPr id="14" name="Text 11"/>
          <p:cNvSpPr txBox="1"/>
          <p:nvPr/>
        </p:nvSpPr>
        <p:spPr>
          <a:xfrm>
            <a:off x="3474720" y="1828800"/>
            <a:ext cx="2194560" cy="411480"/>
          </a:xfrm>
          <a:prstGeom prst="rect">
            <a:avLst/>
          </a:prstGeom>
          <a:noFill/>
          <a:ln/>
        </p:spPr>
        <p:txBody>
          <a:bodyPr wrap="square" lIns="0" tIns="0" rIns="0" bIns="0" rtlCol="0" anchor="t"/>
          <a:lstStyle/>
          <a:p>
            <a:pPr marL="0" indent="0" algn="ctr">
              <a:buNone/>
            </a:pPr>
            <a:r>
              <a:rPr lang="en-US" sz="2200" b="1" dirty="0">
                <a:solidFill>
                  <a:srgbClr val="FFFFFF"/>
                </a:solidFill>
                <a:latin typeface="Georgia" pitchFamily="34" charset="0"/>
                <a:ea typeface="Georgia" pitchFamily="34" charset="-122"/>
                <a:cs typeface="Georgia" pitchFamily="34" charset="-120"/>
              </a:rPr>
              <a:t>_MICHD</a:t>
            </a:r>
            <a:endParaRPr lang="en-US" sz="2200" dirty="0"/>
          </a:p>
        </p:txBody>
      </p:sp>
      <p:sp>
        <p:nvSpPr>
          <p:cNvPr id="15" name="Text 12"/>
          <p:cNvSpPr txBox="1"/>
          <p:nvPr/>
        </p:nvSpPr>
        <p:spPr>
          <a:xfrm>
            <a:off x="3566160" y="2286000"/>
            <a:ext cx="2011680" cy="777240"/>
          </a:xfrm>
          <a:prstGeom prst="rect">
            <a:avLst/>
          </a:prstGeom>
          <a:noFill/>
          <a:ln/>
        </p:spPr>
        <p:txBody>
          <a:bodyPr wrap="square" lIns="0" tIns="0" rIns="0" bIns="0" rtlCol="0" anchor="t"/>
          <a:lstStyle/>
          <a:p>
            <a:pPr marL="0" indent="0" algn="ctr">
              <a:buNone/>
            </a:pPr>
            <a:r>
              <a:rPr lang="en-US" sz="1200" dirty="0">
                <a:solidFill>
                  <a:srgbClr val="DCE8EA"/>
                </a:solidFill>
                <a:latin typeface="Calibri" pitchFamily="34" charset="0"/>
                <a:ea typeface="Calibri" pitchFamily="34" charset="-122"/>
                <a:cs typeface="Calibri" pitchFamily="34" charset="-120"/>
              </a:rPr>
              <a:t>Positive if either component is positive; negative if both are negative</a:t>
            </a:r>
            <a:endParaRPr lang="en-US" sz="1200" dirty="0"/>
          </a:p>
        </p:txBody>
      </p:sp>
      <p:sp>
        <p:nvSpPr>
          <p:cNvPr id="16" name="Shape 13"/>
          <p:cNvSpPr/>
          <p:nvPr/>
        </p:nvSpPr>
        <p:spPr>
          <a:xfrm>
            <a:off x="5943600" y="1325880"/>
            <a:ext cx="2743200" cy="1965960"/>
          </a:xfrm>
          <a:prstGeom prst="rect">
            <a:avLst/>
          </a:prstGeom>
          <a:solidFill>
            <a:srgbClr val="FFFFFF"/>
          </a:solidFill>
          <a:ln w="19050">
            <a:solidFill>
              <a:srgbClr val="0B2545"/>
            </a:solidFill>
            <a:prstDash val="solid"/>
          </a:ln>
        </p:spPr>
      </p:sp>
      <p:sp>
        <p:nvSpPr>
          <p:cNvPr id="17" name="Text 14"/>
          <p:cNvSpPr txBox="1"/>
          <p:nvPr/>
        </p:nvSpPr>
        <p:spPr>
          <a:xfrm>
            <a:off x="6080760" y="1417320"/>
            <a:ext cx="2468880" cy="274320"/>
          </a:xfrm>
          <a:prstGeom prst="rect">
            <a:avLst/>
          </a:prstGeom>
          <a:noFill/>
          <a:ln/>
        </p:spPr>
        <p:txBody>
          <a:bodyPr wrap="square" lIns="0" tIns="0" rIns="0" bIns="0" rtlCol="0" anchor="t"/>
          <a:lstStyle/>
          <a:p>
            <a:pPr marL="0" indent="0">
              <a:buNone/>
            </a:pPr>
            <a:r>
              <a:rPr lang="en-US" sz="1200" b="1" kern="0" spc="100" dirty="0">
                <a:solidFill>
                  <a:srgbClr val="0B2545"/>
                </a:solidFill>
                <a:latin typeface="Calibri" pitchFamily="34" charset="0"/>
                <a:ea typeface="Calibri" pitchFamily="34" charset="-122"/>
                <a:cs typeface="Calibri" pitchFamily="34" charset="-120"/>
              </a:rPr>
              <a:t>EXCLUDED FROM PREDICTORS</a:t>
            </a:r>
            <a:endParaRPr lang="en-US" sz="1200" dirty="0"/>
          </a:p>
        </p:txBody>
      </p:sp>
      <p:sp>
        <p:nvSpPr>
          <p:cNvPr id="18" name="Text 15"/>
          <p:cNvSpPr txBox="1"/>
          <p:nvPr/>
        </p:nvSpPr>
        <p:spPr>
          <a:xfrm>
            <a:off x="6080760" y="1737360"/>
            <a:ext cx="2514600" cy="155448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CVDINFR4, CVDCRHD4</a:t>
            </a:r>
            <a:endParaRPr lang="en-US" sz="1200" dirty="0"/>
          </a:p>
          <a:p>
            <a:pPr marL="0" indent="0">
              <a:buNone/>
            </a:pPr>
            <a:r>
              <a:rPr lang="en-US" sz="1100" dirty="0">
                <a:solidFill>
                  <a:srgbClr val="5A6B7F"/>
                </a:solidFill>
                <a:latin typeface="Calibri" pitchFamily="34" charset="0"/>
                <a:ea typeface="Calibri" pitchFamily="34" charset="-122"/>
                <a:cs typeface="Calibri" pitchFamily="34" charset="-120"/>
              </a:rPr>
              <a:t>Define the target; including them is target leakage.</a:t>
            </a:r>
            <a:endParaRPr lang="en-US" sz="1200" dirty="0"/>
          </a:p>
          <a:p>
            <a:pPr marL="0" indent="0">
              <a:buNone/>
            </a:pPr>
            <a:r>
              <a:rPr lang="en-US" sz="500" dirty="0">
                <a:solidFill>
                  <a:srgbClr val="0B2545"/>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0B2545"/>
                </a:solidFill>
                <a:latin typeface="Calibri" pitchFamily="34" charset="0"/>
                <a:ea typeface="Calibri" pitchFamily="34" charset="-122"/>
                <a:cs typeface="Calibri" pitchFamily="34" charset="-120"/>
              </a:rPr>
              <a:t>_LLCPWT, _STSTR, _PSU, _STATE</a:t>
            </a:r>
            <a:endParaRPr lang="en-US" sz="1200" dirty="0"/>
          </a:p>
          <a:p>
            <a:pPr marL="0" indent="0">
              <a:buNone/>
            </a:pPr>
            <a:r>
              <a:rPr lang="en-US" sz="1100" dirty="0">
                <a:solidFill>
                  <a:srgbClr val="5A6B7F"/>
                </a:solidFill>
                <a:latin typeface="Calibri" pitchFamily="34" charset="0"/>
                <a:ea typeface="Calibri" pitchFamily="34" charset="-122"/>
                <a:cs typeface="Calibri" pitchFamily="34" charset="-120"/>
              </a:rPr>
              <a:t>Survey weight, design and identifier variables; retained separately.</a:t>
            </a:r>
            <a:endParaRPr lang="en-US" sz="1200" dirty="0"/>
          </a:p>
        </p:txBody>
      </p:sp>
      <p:sp>
        <p:nvSpPr>
          <p:cNvPr id="19" name="Shape 16"/>
          <p:cNvSpPr/>
          <p:nvPr/>
        </p:nvSpPr>
        <p:spPr>
          <a:xfrm>
            <a:off x="457200" y="3520440"/>
            <a:ext cx="8229600" cy="868680"/>
          </a:xfrm>
          <a:prstGeom prst="rect">
            <a:avLst/>
          </a:prstGeom>
          <a:solidFill>
            <a:srgbClr val="E4EFF0"/>
          </a:solidFill>
          <a:ln w="12700">
            <a:solidFill>
              <a:srgbClr val="E4EFF0"/>
            </a:solidFill>
            <a:prstDash val="solid"/>
          </a:ln>
        </p:spPr>
      </p:sp>
      <p:sp>
        <p:nvSpPr>
          <p:cNvPr id="20" name="Text 17"/>
          <p:cNvSpPr txBox="1"/>
          <p:nvPr/>
        </p:nvSpPr>
        <p:spPr>
          <a:xfrm>
            <a:off x="640080" y="3520440"/>
            <a:ext cx="7863840" cy="868680"/>
          </a:xfrm>
          <a:prstGeom prst="rect">
            <a:avLst/>
          </a:prstGeom>
          <a:noFill/>
          <a:ln/>
        </p:spPr>
        <p:txBody>
          <a:bodyPr wrap="square" lIns="0" tIns="0" rIns="0" bIns="0" rtlCol="0" anchor="ctr"/>
          <a:lstStyle/>
          <a:p>
            <a:pPr marL="0" indent="0">
              <a:buNone/>
            </a:pPr>
            <a:r>
              <a:rPr lang="en-US" sz="1400" dirty="0">
                <a:solidFill>
                  <a:srgbClr val="0B2545"/>
                </a:solidFill>
                <a:latin typeface="Calibri" pitchFamily="34" charset="0"/>
                <a:ea typeface="Calibri" pitchFamily="34" charset="-122"/>
                <a:cs typeface="Calibri" pitchFamily="34" charset="-120"/>
              </a:rPr>
              <a:t>38 original predictors remain. The model classifies reported disease history from other survey answers; it does not diagnose and does not predict future cardiovascular events.</a:t>
            </a:r>
            <a:endParaRPr lang="en-US" sz="1400" dirty="0"/>
          </a:p>
        </p:txBody>
      </p:sp>
      <p:sp>
        <p:nvSpPr>
          <p:cNvPr id="21" name="Text 18"/>
          <p:cNvSpPr txBox="1"/>
          <p:nvPr/>
        </p:nvSpPr>
        <p:spPr>
          <a:xfrm>
            <a:off x="457200" y="4462272"/>
            <a:ext cx="8229600" cy="228600"/>
          </a:xfrm>
          <a:prstGeom prst="rect">
            <a:avLst/>
          </a:prstGeom>
          <a:noFill/>
          <a:ln/>
        </p:spPr>
        <p:txBody>
          <a:bodyPr wrap="square" lIns="0" tIns="0" rIns="0" bIns="0" rtlCol="0" anchor="t"/>
          <a:lstStyle/>
          <a:p>
            <a:pPr marL="0" indent="0">
              <a:buNone/>
            </a:pPr>
            <a:r>
              <a:rPr lang="en-US" sz="1000" i="1" dirty="0">
                <a:solidFill>
                  <a:srgbClr val="5A6B7F"/>
                </a:solidFill>
                <a:latin typeface="Calibri" pitchFamily="34" charset="0"/>
                <a:ea typeface="Calibri" pitchFamily="34" charset="-122"/>
                <a:cs typeface="Calibri" pitchFamily="34" charset="-120"/>
              </a:rPr>
              <a:t>Source: project report, Secs. 5.3 and 7.1; leakage-safe validation in related work [17]</a:t>
            </a:r>
            <a:endParaRPr lang="en-US" sz="10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Eleven Documented Stages from CDC Data to Dashboard</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Shape 2"/>
          <p:cNvSpPr/>
          <p:nvPr/>
        </p:nvSpPr>
        <p:spPr>
          <a:xfrm>
            <a:off x="640080" y="1417320"/>
            <a:ext cx="1188720" cy="1051560"/>
          </a:xfrm>
          <a:prstGeom prst="rect">
            <a:avLst/>
          </a:prstGeom>
          <a:solidFill>
            <a:srgbClr val="0B2545"/>
          </a:solidFill>
          <a:ln w="12700">
            <a:solidFill>
              <a:srgbClr val="0B2545"/>
            </a:solidFill>
            <a:prstDash val="solid"/>
          </a:ln>
        </p:spPr>
      </p:sp>
      <p:sp>
        <p:nvSpPr>
          <p:cNvPr id="6" name="Text 3"/>
          <p:cNvSpPr txBox="1"/>
          <p:nvPr/>
        </p:nvSpPr>
        <p:spPr>
          <a:xfrm>
            <a:off x="731520" y="149047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01</a:t>
            </a:r>
            <a:endParaRPr lang="en-US" sz="1200" dirty="0"/>
          </a:p>
        </p:txBody>
      </p:sp>
      <p:sp>
        <p:nvSpPr>
          <p:cNvPr id="7" name="Text 4"/>
          <p:cNvSpPr txBox="1"/>
          <p:nvPr/>
        </p:nvSpPr>
        <p:spPr>
          <a:xfrm>
            <a:off x="731520" y="178308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Data acquisition</a:t>
            </a:r>
            <a:endParaRPr lang="en-US" sz="1200" dirty="0"/>
          </a:p>
        </p:txBody>
      </p:sp>
      <p:sp>
        <p:nvSpPr>
          <p:cNvPr id="8" name="Shape 5"/>
          <p:cNvSpPr/>
          <p:nvPr/>
        </p:nvSpPr>
        <p:spPr>
          <a:xfrm>
            <a:off x="1828800" y="1943100"/>
            <a:ext cx="146304" cy="0"/>
          </a:xfrm>
          <a:prstGeom prst="line">
            <a:avLst/>
          </a:prstGeom>
          <a:noFill/>
          <a:ln w="22225">
            <a:solidFill>
              <a:srgbClr val="5A6B7F"/>
            </a:solidFill>
            <a:prstDash val="solid"/>
            <a:tailEnd type="triangle"/>
          </a:ln>
        </p:spPr>
      </p:sp>
      <p:sp>
        <p:nvSpPr>
          <p:cNvPr id="9" name="Shape 6"/>
          <p:cNvSpPr/>
          <p:nvPr/>
        </p:nvSpPr>
        <p:spPr>
          <a:xfrm>
            <a:off x="1975104" y="1417320"/>
            <a:ext cx="1188720" cy="1051560"/>
          </a:xfrm>
          <a:prstGeom prst="rect">
            <a:avLst/>
          </a:prstGeom>
          <a:solidFill>
            <a:srgbClr val="0B2545"/>
          </a:solidFill>
          <a:ln w="12700">
            <a:solidFill>
              <a:srgbClr val="0B2545"/>
            </a:solidFill>
            <a:prstDash val="solid"/>
          </a:ln>
        </p:spPr>
      </p:sp>
      <p:sp>
        <p:nvSpPr>
          <p:cNvPr id="10" name="Text 7"/>
          <p:cNvSpPr txBox="1"/>
          <p:nvPr/>
        </p:nvSpPr>
        <p:spPr>
          <a:xfrm>
            <a:off x="2066544" y="149047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02</a:t>
            </a:r>
            <a:endParaRPr lang="en-US" sz="1200" dirty="0"/>
          </a:p>
        </p:txBody>
      </p:sp>
      <p:sp>
        <p:nvSpPr>
          <p:cNvPr id="11" name="Text 8"/>
          <p:cNvSpPr txBox="1"/>
          <p:nvPr/>
        </p:nvSpPr>
        <p:spPr>
          <a:xfrm>
            <a:off x="2066544" y="178308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Data quality assessment</a:t>
            </a:r>
            <a:endParaRPr lang="en-US" sz="1200" dirty="0"/>
          </a:p>
        </p:txBody>
      </p:sp>
      <p:sp>
        <p:nvSpPr>
          <p:cNvPr id="12" name="Shape 9"/>
          <p:cNvSpPr/>
          <p:nvPr/>
        </p:nvSpPr>
        <p:spPr>
          <a:xfrm>
            <a:off x="3163824" y="1943100"/>
            <a:ext cx="146304" cy="0"/>
          </a:xfrm>
          <a:prstGeom prst="line">
            <a:avLst/>
          </a:prstGeom>
          <a:noFill/>
          <a:ln w="22225">
            <a:solidFill>
              <a:srgbClr val="5A6B7F"/>
            </a:solidFill>
            <a:prstDash val="solid"/>
            <a:tailEnd type="triangle"/>
          </a:ln>
        </p:spPr>
      </p:sp>
      <p:sp>
        <p:nvSpPr>
          <p:cNvPr id="13" name="Shape 10"/>
          <p:cNvSpPr/>
          <p:nvPr/>
        </p:nvSpPr>
        <p:spPr>
          <a:xfrm>
            <a:off x="3310128" y="1417320"/>
            <a:ext cx="1188720" cy="1051560"/>
          </a:xfrm>
          <a:prstGeom prst="rect">
            <a:avLst/>
          </a:prstGeom>
          <a:solidFill>
            <a:srgbClr val="0B2545"/>
          </a:solidFill>
          <a:ln w="12700">
            <a:solidFill>
              <a:srgbClr val="0B2545"/>
            </a:solidFill>
            <a:prstDash val="solid"/>
          </a:ln>
        </p:spPr>
      </p:sp>
      <p:sp>
        <p:nvSpPr>
          <p:cNvPr id="14" name="Text 11"/>
          <p:cNvSpPr txBox="1"/>
          <p:nvPr/>
        </p:nvSpPr>
        <p:spPr>
          <a:xfrm>
            <a:off x="3401568" y="149047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03</a:t>
            </a:r>
            <a:endParaRPr lang="en-US" sz="1200" dirty="0"/>
          </a:p>
        </p:txBody>
      </p:sp>
      <p:sp>
        <p:nvSpPr>
          <p:cNvPr id="15" name="Text 12"/>
          <p:cNvSpPr txBox="1"/>
          <p:nvPr/>
        </p:nvSpPr>
        <p:spPr>
          <a:xfrm>
            <a:off x="3401568" y="178308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Outcome eligibility</a:t>
            </a:r>
            <a:endParaRPr lang="en-US" sz="1200" dirty="0"/>
          </a:p>
        </p:txBody>
      </p:sp>
      <p:sp>
        <p:nvSpPr>
          <p:cNvPr id="16" name="Shape 13"/>
          <p:cNvSpPr/>
          <p:nvPr/>
        </p:nvSpPr>
        <p:spPr>
          <a:xfrm>
            <a:off x="4498848" y="1943100"/>
            <a:ext cx="146304" cy="0"/>
          </a:xfrm>
          <a:prstGeom prst="line">
            <a:avLst/>
          </a:prstGeom>
          <a:noFill/>
          <a:ln w="22225">
            <a:solidFill>
              <a:srgbClr val="5A6B7F"/>
            </a:solidFill>
            <a:prstDash val="solid"/>
            <a:tailEnd type="triangle"/>
          </a:ln>
        </p:spPr>
      </p:sp>
      <p:sp>
        <p:nvSpPr>
          <p:cNvPr id="17" name="Shape 14"/>
          <p:cNvSpPr/>
          <p:nvPr/>
        </p:nvSpPr>
        <p:spPr>
          <a:xfrm>
            <a:off x="4645152" y="1417320"/>
            <a:ext cx="1188720" cy="1051560"/>
          </a:xfrm>
          <a:prstGeom prst="rect">
            <a:avLst/>
          </a:prstGeom>
          <a:solidFill>
            <a:srgbClr val="1F3F6B"/>
          </a:solidFill>
          <a:ln w="12700">
            <a:solidFill>
              <a:srgbClr val="1F3F6B"/>
            </a:solidFill>
            <a:prstDash val="solid"/>
          </a:ln>
        </p:spPr>
      </p:sp>
      <p:sp>
        <p:nvSpPr>
          <p:cNvPr id="18" name="Text 15"/>
          <p:cNvSpPr txBox="1"/>
          <p:nvPr/>
        </p:nvSpPr>
        <p:spPr>
          <a:xfrm>
            <a:off x="4736592" y="149047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04</a:t>
            </a:r>
            <a:endParaRPr lang="en-US" sz="1200" dirty="0"/>
          </a:p>
        </p:txBody>
      </p:sp>
      <p:sp>
        <p:nvSpPr>
          <p:cNvPr id="19" name="Text 16"/>
          <p:cNvSpPr txBox="1"/>
          <p:nvPr/>
        </p:nvSpPr>
        <p:spPr>
          <a:xfrm>
            <a:off x="4736592" y="178308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Feature engineering</a:t>
            </a:r>
            <a:endParaRPr lang="en-US" sz="1200" dirty="0"/>
          </a:p>
        </p:txBody>
      </p:sp>
      <p:sp>
        <p:nvSpPr>
          <p:cNvPr id="20" name="Shape 17"/>
          <p:cNvSpPr/>
          <p:nvPr/>
        </p:nvSpPr>
        <p:spPr>
          <a:xfrm>
            <a:off x="5833872" y="1943100"/>
            <a:ext cx="146304" cy="0"/>
          </a:xfrm>
          <a:prstGeom prst="line">
            <a:avLst/>
          </a:prstGeom>
          <a:noFill/>
          <a:ln w="22225">
            <a:solidFill>
              <a:srgbClr val="5A6B7F"/>
            </a:solidFill>
            <a:prstDash val="solid"/>
            <a:tailEnd type="triangle"/>
          </a:ln>
        </p:spPr>
      </p:sp>
      <p:sp>
        <p:nvSpPr>
          <p:cNvPr id="21" name="Shape 18"/>
          <p:cNvSpPr/>
          <p:nvPr/>
        </p:nvSpPr>
        <p:spPr>
          <a:xfrm>
            <a:off x="5980176" y="1417320"/>
            <a:ext cx="1188720" cy="1051560"/>
          </a:xfrm>
          <a:prstGeom prst="rect">
            <a:avLst/>
          </a:prstGeom>
          <a:solidFill>
            <a:srgbClr val="1F3F6B"/>
          </a:solidFill>
          <a:ln w="12700">
            <a:solidFill>
              <a:srgbClr val="1F3F6B"/>
            </a:solidFill>
            <a:prstDash val="solid"/>
          </a:ln>
        </p:spPr>
      </p:sp>
      <p:sp>
        <p:nvSpPr>
          <p:cNvPr id="22" name="Text 19"/>
          <p:cNvSpPr txBox="1"/>
          <p:nvPr/>
        </p:nvSpPr>
        <p:spPr>
          <a:xfrm>
            <a:off x="6071616" y="149047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05</a:t>
            </a:r>
            <a:endParaRPr lang="en-US" sz="1200" dirty="0"/>
          </a:p>
        </p:txBody>
      </p:sp>
      <p:sp>
        <p:nvSpPr>
          <p:cNvPr id="23" name="Text 20"/>
          <p:cNvSpPr txBox="1"/>
          <p:nvPr/>
        </p:nvSpPr>
        <p:spPr>
          <a:xfrm>
            <a:off x="6071616" y="178308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Leakage prevention</a:t>
            </a:r>
            <a:endParaRPr lang="en-US" sz="1200" dirty="0"/>
          </a:p>
        </p:txBody>
      </p:sp>
      <p:sp>
        <p:nvSpPr>
          <p:cNvPr id="24" name="Shape 21"/>
          <p:cNvSpPr/>
          <p:nvPr/>
        </p:nvSpPr>
        <p:spPr>
          <a:xfrm>
            <a:off x="7168896" y="1943100"/>
            <a:ext cx="146304" cy="0"/>
          </a:xfrm>
          <a:prstGeom prst="line">
            <a:avLst/>
          </a:prstGeom>
          <a:noFill/>
          <a:ln w="22225">
            <a:solidFill>
              <a:srgbClr val="5A6B7F"/>
            </a:solidFill>
            <a:prstDash val="solid"/>
            <a:tailEnd type="triangle"/>
          </a:ln>
        </p:spPr>
      </p:sp>
      <p:sp>
        <p:nvSpPr>
          <p:cNvPr id="25" name="Shape 22"/>
          <p:cNvSpPr/>
          <p:nvPr/>
        </p:nvSpPr>
        <p:spPr>
          <a:xfrm>
            <a:off x="7315200" y="1417320"/>
            <a:ext cx="1188720" cy="1051560"/>
          </a:xfrm>
          <a:prstGeom prst="rect">
            <a:avLst/>
          </a:prstGeom>
          <a:solidFill>
            <a:srgbClr val="1F3F6B"/>
          </a:solidFill>
          <a:ln w="12700">
            <a:solidFill>
              <a:srgbClr val="1F3F6B"/>
            </a:solidFill>
            <a:prstDash val="solid"/>
          </a:ln>
        </p:spPr>
      </p:sp>
      <p:sp>
        <p:nvSpPr>
          <p:cNvPr id="26" name="Text 23"/>
          <p:cNvSpPr txBox="1"/>
          <p:nvPr/>
        </p:nvSpPr>
        <p:spPr>
          <a:xfrm>
            <a:off x="7406640" y="149047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06</a:t>
            </a:r>
            <a:endParaRPr lang="en-US" sz="1200" dirty="0"/>
          </a:p>
        </p:txBody>
      </p:sp>
      <p:sp>
        <p:nvSpPr>
          <p:cNvPr id="27" name="Text 24"/>
          <p:cNvSpPr txBox="1"/>
          <p:nvPr/>
        </p:nvSpPr>
        <p:spPr>
          <a:xfrm>
            <a:off x="7406640" y="178308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Stratified data split</a:t>
            </a:r>
            <a:endParaRPr lang="en-US" sz="1200" dirty="0"/>
          </a:p>
        </p:txBody>
      </p:sp>
      <p:sp>
        <p:nvSpPr>
          <p:cNvPr id="28" name="Shape 25"/>
          <p:cNvSpPr/>
          <p:nvPr/>
        </p:nvSpPr>
        <p:spPr>
          <a:xfrm>
            <a:off x="640080" y="2926080"/>
            <a:ext cx="1188720" cy="1051560"/>
          </a:xfrm>
          <a:prstGeom prst="rect">
            <a:avLst/>
          </a:prstGeom>
          <a:solidFill>
            <a:srgbClr val="3E7C85"/>
          </a:solidFill>
          <a:ln w="12700">
            <a:solidFill>
              <a:srgbClr val="3E7C85"/>
            </a:solidFill>
            <a:prstDash val="solid"/>
          </a:ln>
        </p:spPr>
      </p:sp>
      <p:sp>
        <p:nvSpPr>
          <p:cNvPr id="29" name="Text 26"/>
          <p:cNvSpPr txBox="1"/>
          <p:nvPr/>
        </p:nvSpPr>
        <p:spPr>
          <a:xfrm>
            <a:off x="731520" y="299923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07</a:t>
            </a:r>
            <a:endParaRPr lang="en-US" sz="1200" dirty="0"/>
          </a:p>
        </p:txBody>
      </p:sp>
      <p:sp>
        <p:nvSpPr>
          <p:cNvPr id="30" name="Text 27"/>
          <p:cNvSpPr txBox="1"/>
          <p:nvPr/>
        </p:nvSpPr>
        <p:spPr>
          <a:xfrm>
            <a:off x="731520" y="329184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Model training</a:t>
            </a:r>
            <a:endParaRPr lang="en-US" sz="1200" dirty="0"/>
          </a:p>
        </p:txBody>
      </p:sp>
      <p:sp>
        <p:nvSpPr>
          <p:cNvPr id="31" name="Shape 28"/>
          <p:cNvSpPr/>
          <p:nvPr/>
        </p:nvSpPr>
        <p:spPr>
          <a:xfrm>
            <a:off x="1828800" y="3451860"/>
            <a:ext cx="146304" cy="0"/>
          </a:xfrm>
          <a:prstGeom prst="line">
            <a:avLst/>
          </a:prstGeom>
          <a:noFill/>
          <a:ln w="22225">
            <a:solidFill>
              <a:srgbClr val="5A6B7F"/>
            </a:solidFill>
            <a:prstDash val="solid"/>
            <a:tailEnd type="triangle"/>
          </a:ln>
        </p:spPr>
      </p:sp>
      <p:sp>
        <p:nvSpPr>
          <p:cNvPr id="32" name="Shape 29"/>
          <p:cNvSpPr/>
          <p:nvPr/>
        </p:nvSpPr>
        <p:spPr>
          <a:xfrm>
            <a:off x="1975104" y="2926080"/>
            <a:ext cx="1188720" cy="1051560"/>
          </a:xfrm>
          <a:prstGeom prst="rect">
            <a:avLst/>
          </a:prstGeom>
          <a:solidFill>
            <a:srgbClr val="3E7C85"/>
          </a:solidFill>
          <a:ln w="12700">
            <a:solidFill>
              <a:srgbClr val="3E7C85"/>
            </a:solidFill>
            <a:prstDash val="solid"/>
          </a:ln>
        </p:spPr>
      </p:sp>
      <p:sp>
        <p:nvSpPr>
          <p:cNvPr id="33" name="Text 30"/>
          <p:cNvSpPr txBox="1"/>
          <p:nvPr/>
        </p:nvSpPr>
        <p:spPr>
          <a:xfrm>
            <a:off x="2066544" y="299923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08</a:t>
            </a:r>
            <a:endParaRPr lang="en-US" sz="1200" dirty="0"/>
          </a:p>
        </p:txBody>
      </p:sp>
      <p:sp>
        <p:nvSpPr>
          <p:cNvPr id="34" name="Text 31"/>
          <p:cNvSpPr txBox="1"/>
          <p:nvPr/>
        </p:nvSpPr>
        <p:spPr>
          <a:xfrm>
            <a:off x="2066544" y="329184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Validation and threshold selection</a:t>
            </a:r>
            <a:endParaRPr lang="en-US" sz="1200" dirty="0"/>
          </a:p>
        </p:txBody>
      </p:sp>
      <p:sp>
        <p:nvSpPr>
          <p:cNvPr id="35" name="Shape 32"/>
          <p:cNvSpPr/>
          <p:nvPr/>
        </p:nvSpPr>
        <p:spPr>
          <a:xfrm>
            <a:off x="3163824" y="3451860"/>
            <a:ext cx="146304" cy="0"/>
          </a:xfrm>
          <a:prstGeom prst="line">
            <a:avLst/>
          </a:prstGeom>
          <a:noFill/>
          <a:ln w="22225">
            <a:solidFill>
              <a:srgbClr val="5A6B7F"/>
            </a:solidFill>
            <a:prstDash val="solid"/>
            <a:tailEnd type="triangle"/>
          </a:ln>
        </p:spPr>
      </p:sp>
      <p:sp>
        <p:nvSpPr>
          <p:cNvPr id="36" name="Shape 33"/>
          <p:cNvSpPr/>
          <p:nvPr/>
        </p:nvSpPr>
        <p:spPr>
          <a:xfrm>
            <a:off x="3310128" y="2926080"/>
            <a:ext cx="1188720" cy="1051560"/>
          </a:xfrm>
          <a:prstGeom prst="rect">
            <a:avLst/>
          </a:prstGeom>
          <a:solidFill>
            <a:srgbClr val="3E7C85"/>
          </a:solidFill>
          <a:ln w="12700">
            <a:solidFill>
              <a:srgbClr val="3E7C85"/>
            </a:solidFill>
            <a:prstDash val="solid"/>
          </a:ln>
        </p:spPr>
      </p:sp>
      <p:sp>
        <p:nvSpPr>
          <p:cNvPr id="37" name="Text 34"/>
          <p:cNvSpPr txBox="1"/>
          <p:nvPr/>
        </p:nvSpPr>
        <p:spPr>
          <a:xfrm>
            <a:off x="3401568" y="2999232"/>
            <a:ext cx="457200" cy="274320"/>
          </a:xfrm>
          <a:prstGeom prst="rect">
            <a:avLst/>
          </a:prstGeom>
          <a:noFill/>
          <a:ln/>
        </p:spPr>
        <p:txBody>
          <a:bodyPr wrap="square" lIns="0" tIns="0" rIns="0" bIns="0" rtlCol="0" anchor="t"/>
          <a:lstStyle/>
          <a:p>
            <a:pPr marL="0" indent="0">
              <a:buNone/>
            </a:pPr>
            <a:r>
              <a:rPr lang="en-US" sz="1200" b="1" dirty="0">
                <a:solidFill>
                  <a:srgbClr val="CFE3E6"/>
                </a:solidFill>
                <a:latin typeface="Calibri" pitchFamily="34" charset="0"/>
                <a:ea typeface="Calibri" pitchFamily="34" charset="-122"/>
                <a:cs typeface="Calibri" pitchFamily="34" charset="-120"/>
              </a:rPr>
              <a:t>09</a:t>
            </a:r>
            <a:endParaRPr lang="en-US" sz="1200" dirty="0"/>
          </a:p>
        </p:txBody>
      </p:sp>
      <p:sp>
        <p:nvSpPr>
          <p:cNvPr id="38" name="Text 35"/>
          <p:cNvSpPr txBox="1"/>
          <p:nvPr/>
        </p:nvSpPr>
        <p:spPr>
          <a:xfrm>
            <a:off x="3401568" y="3291840"/>
            <a:ext cx="1005840"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Holdout evaluation</a:t>
            </a:r>
            <a:endParaRPr lang="en-US" sz="1200" dirty="0"/>
          </a:p>
        </p:txBody>
      </p:sp>
      <p:sp>
        <p:nvSpPr>
          <p:cNvPr id="39" name="Shape 36"/>
          <p:cNvSpPr/>
          <p:nvPr/>
        </p:nvSpPr>
        <p:spPr>
          <a:xfrm>
            <a:off x="4498848" y="3451860"/>
            <a:ext cx="146304" cy="0"/>
          </a:xfrm>
          <a:prstGeom prst="line">
            <a:avLst/>
          </a:prstGeom>
          <a:noFill/>
          <a:ln w="22225">
            <a:solidFill>
              <a:srgbClr val="5A6B7F"/>
            </a:solidFill>
            <a:prstDash val="solid"/>
            <a:tailEnd type="triangle"/>
          </a:ln>
        </p:spPr>
      </p:sp>
      <p:sp>
        <p:nvSpPr>
          <p:cNvPr id="40" name="Shape 37"/>
          <p:cNvSpPr/>
          <p:nvPr/>
        </p:nvSpPr>
        <p:spPr>
          <a:xfrm>
            <a:off x="4645152" y="2926080"/>
            <a:ext cx="1188720" cy="1051560"/>
          </a:xfrm>
          <a:prstGeom prst="rect">
            <a:avLst/>
          </a:prstGeom>
          <a:solidFill>
            <a:srgbClr val="7FAAB0"/>
          </a:solidFill>
          <a:ln w="12700">
            <a:solidFill>
              <a:srgbClr val="7FAAB0"/>
            </a:solidFill>
            <a:prstDash val="solid"/>
          </a:ln>
        </p:spPr>
      </p:sp>
      <p:sp>
        <p:nvSpPr>
          <p:cNvPr id="41" name="Text 38"/>
          <p:cNvSpPr txBox="1"/>
          <p:nvPr/>
        </p:nvSpPr>
        <p:spPr>
          <a:xfrm>
            <a:off x="4736592" y="2999232"/>
            <a:ext cx="457200" cy="27432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10</a:t>
            </a:r>
            <a:endParaRPr lang="en-US" sz="1200" dirty="0"/>
          </a:p>
        </p:txBody>
      </p:sp>
      <p:sp>
        <p:nvSpPr>
          <p:cNvPr id="42" name="Text 39"/>
          <p:cNvSpPr txBox="1"/>
          <p:nvPr/>
        </p:nvSpPr>
        <p:spPr>
          <a:xfrm>
            <a:off x="4736592" y="3291840"/>
            <a:ext cx="1005840" cy="64008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Explainability</a:t>
            </a:r>
            <a:endParaRPr lang="en-US" sz="1200" dirty="0"/>
          </a:p>
        </p:txBody>
      </p:sp>
      <p:sp>
        <p:nvSpPr>
          <p:cNvPr id="43" name="Shape 40"/>
          <p:cNvSpPr/>
          <p:nvPr/>
        </p:nvSpPr>
        <p:spPr>
          <a:xfrm>
            <a:off x="5833872" y="3451860"/>
            <a:ext cx="146304" cy="0"/>
          </a:xfrm>
          <a:prstGeom prst="line">
            <a:avLst/>
          </a:prstGeom>
          <a:noFill/>
          <a:ln w="22225">
            <a:solidFill>
              <a:srgbClr val="5A6B7F"/>
            </a:solidFill>
            <a:prstDash val="solid"/>
            <a:tailEnd type="triangle"/>
          </a:ln>
        </p:spPr>
      </p:sp>
      <p:sp>
        <p:nvSpPr>
          <p:cNvPr id="44" name="Shape 41"/>
          <p:cNvSpPr/>
          <p:nvPr/>
        </p:nvSpPr>
        <p:spPr>
          <a:xfrm>
            <a:off x="5980176" y="2926080"/>
            <a:ext cx="1188720" cy="1051560"/>
          </a:xfrm>
          <a:prstGeom prst="rect">
            <a:avLst/>
          </a:prstGeom>
          <a:solidFill>
            <a:srgbClr val="7FAAB0"/>
          </a:solidFill>
          <a:ln w="12700">
            <a:solidFill>
              <a:srgbClr val="7FAAB0"/>
            </a:solidFill>
            <a:prstDash val="solid"/>
          </a:ln>
        </p:spPr>
      </p:sp>
      <p:sp>
        <p:nvSpPr>
          <p:cNvPr id="45" name="Text 42"/>
          <p:cNvSpPr txBox="1"/>
          <p:nvPr/>
        </p:nvSpPr>
        <p:spPr>
          <a:xfrm>
            <a:off x="6071616" y="2999232"/>
            <a:ext cx="457200" cy="27432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11</a:t>
            </a:r>
            <a:endParaRPr lang="en-US" sz="1200" dirty="0"/>
          </a:p>
        </p:txBody>
      </p:sp>
      <p:sp>
        <p:nvSpPr>
          <p:cNvPr id="46" name="Text 43"/>
          <p:cNvSpPr txBox="1"/>
          <p:nvPr/>
        </p:nvSpPr>
        <p:spPr>
          <a:xfrm>
            <a:off x="6071616" y="3291840"/>
            <a:ext cx="1005840" cy="64008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Dashboard</a:t>
            </a:r>
            <a:endParaRPr lang="en-US" sz="1200" dirty="0"/>
          </a:p>
        </p:txBody>
      </p:sp>
      <p:sp>
        <p:nvSpPr>
          <p:cNvPr id="47" name="Shape 44"/>
          <p:cNvSpPr/>
          <p:nvPr/>
        </p:nvSpPr>
        <p:spPr>
          <a:xfrm>
            <a:off x="7909560" y="2468880"/>
            <a:ext cx="0" cy="182880"/>
          </a:xfrm>
          <a:prstGeom prst="line">
            <a:avLst/>
          </a:prstGeom>
          <a:noFill/>
          <a:ln w="22225">
            <a:solidFill>
              <a:srgbClr val="5A6B7F"/>
            </a:solidFill>
            <a:prstDash val="solid"/>
          </a:ln>
        </p:spPr>
      </p:sp>
      <p:sp>
        <p:nvSpPr>
          <p:cNvPr id="48" name="Shape 45"/>
          <p:cNvSpPr/>
          <p:nvPr/>
        </p:nvSpPr>
        <p:spPr>
          <a:xfrm flipH="1">
            <a:off x="1234440" y="2651760"/>
            <a:ext cx="6675120" cy="0"/>
          </a:xfrm>
          <a:prstGeom prst="line">
            <a:avLst/>
          </a:prstGeom>
          <a:noFill/>
          <a:ln w="22225">
            <a:solidFill>
              <a:srgbClr val="5A6B7F"/>
            </a:solidFill>
            <a:prstDash val="solid"/>
          </a:ln>
        </p:spPr>
      </p:sp>
      <p:sp>
        <p:nvSpPr>
          <p:cNvPr id="49" name="Shape 46"/>
          <p:cNvSpPr/>
          <p:nvPr/>
        </p:nvSpPr>
        <p:spPr>
          <a:xfrm>
            <a:off x="1234440" y="2651760"/>
            <a:ext cx="0" cy="457200"/>
          </a:xfrm>
          <a:prstGeom prst="line">
            <a:avLst/>
          </a:prstGeom>
          <a:noFill/>
          <a:ln w="22225">
            <a:solidFill>
              <a:srgbClr val="5A6B7F"/>
            </a:solidFill>
            <a:prstDash val="solid"/>
            <a:tailEnd type="triangle"/>
          </a:ln>
        </p:spPr>
      </p:sp>
      <p:sp>
        <p:nvSpPr>
          <p:cNvPr id="50" name="Shape 47"/>
          <p:cNvSpPr/>
          <p:nvPr/>
        </p:nvSpPr>
        <p:spPr>
          <a:xfrm>
            <a:off x="640080" y="4206240"/>
            <a:ext cx="182880" cy="182880"/>
          </a:xfrm>
          <a:prstGeom prst="rect">
            <a:avLst/>
          </a:prstGeom>
          <a:solidFill>
            <a:srgbClr val="0B2545"/>
          </a:solidFill>
          <a:ln w="12700">
            <a:solidFill>
              <a:srgbClr val="0B2545"/>
            </a:solidFill>
            <a:prstDash val="solid"/>
          </a:ln>
        </p:spPr>
      </p:sp>
      <p:sp>
        <p:nvSpPr>
          <p:cNvPr id="51" name="Text 48"/>
          <p:cNvSpPr txBox="1"/>
          <p:nvPr/>
        </p:nvSpPr>
        <p:spPr>
          <a:xfrm>
            <a:off x="896112" y="4160520"/>
            <a:ext cx="1737360" cy="274320"/>
          </a:xfrm>
          <a:prstGeom prst="rect">
            <a:avLst/>
          </a:prstGeom>
          <a:noFill/>
          <a:ln/>
        </p:spPr>
        <p:txBody>
          <a:bodyPr wrap="square" lIns="0" tIns="0" rIns="0" bIns="0" rtlCol="0" anchor="ctr"/>
          <a:lstStyle/>
          <a:p>
            <a:pPr marL="0" indent="0">
              <a:buNone/>
            </a:pPr>
            <a:r>
              <a:rPr lang="en-US" sz="1100" dirty="0">
                <a:solidFill>
                  <a:srgbClr val="5A6B7F"/>
                </a:solidFill>
                <a:latin typeface="Calibri" pitchFamily="34" charset="0"/>
                <a:ea typeface="Calibri" pitchFamily="34" charset="-122"/>
                <a:cs typeface="Calibri" pitchFamily="34" charset="-120"/>
              </a:rPr>
              <a:t>Data preparation</a:t>
            </a:r>
            <a:endParaRPr lang="en-US" sz="1100" dirty="0"/>
          </a:p>
        </p:txBody>
      </p:sp>
      <p:sp>
        <p:nvSpPr>
          <p:cNvPr id="52" name="Shape 49"/>
          <p:cNvSpPr/>
          <p:nvPr/>
        </p:nvSpPr>
        <p:spPr>
          <a:xfrm>
            <a:off x="2651760" y="4206240"/>
            <a:ext cx="182880" cy="182880"/>
          </a:xfrm>
          <a:prstGeom prst="rect">
            <a:avLst/>
          </a:prstGeom>
          <a:solidFill>
            <a:srgbClr val="1F3F6B"/>
          </a:solidFill>
          <a:ln w="12700">
            <a:solidFill>
              <a:srgbClr val="1F3F6B"/>
            </a:solidFill>
            <a:prstDash val="solid"/>
          </a:ln>
        </p:spPr>
      </p:sp>
      <p:sp>
        <p:nvSpPr>
          <p:cNvPr id="53" name="Text 50"/>
          <p:cNvSpPr txBox="1"/>
          <p:nvPr/>
        </p:nvSpPr>
        <p:spPr>
          <a:xfrm>
            <a:off x="2907792" y="4160520"/>
            <a:ext cx="1737360" cy="274320"/>
          </a:xfrm>
          <a:prstGeom prst="rect">
            <a:avLst/>
          </a:prstGeom>
          <a:noFill/>
          <a:ln/>
        </p:spPr>
        <p:txBody>
          <a:bodyPr wrap="square" lIns="0" tIns="0" rIns="0" bIns="0" rtlCol="0" anchor="ctr"/>
          <a:lstStyle/>
          <a:p>
            <a:pPr marL="0" indent="0">
              <a:buNone/>
            </a:pPr>
            <a:r>
              <a:rPr lang="en-US" sz="1100" dirty="0">
                <a:solidFill>
                  <a:srgbClr val="5A6B7F"/>
                </a:solidFill>
                <a:latin typeface="Calibri" pitchFamily="34" charset="0"/>
                <a:ea typeface="Calibri" pitchFamily="34" charset="-122"/>
                <a:cs typeface="Calibri" pitchFamily="34" charset="-120"/>
              </a:rPr>
              <a:t>Feature design and splitting</a:t>
            </a:r>
            <a:endParaRPr lang="en-US" sz="1100" dirty="0"/>
          </a:p>
        </p:txBody>
      </p:sp>
      <p:sp>
        <p:nvSpPr>
          <p:cNvPr id="54" name="Shape 51"/>
          <p:cNvSpPr/>
          <p:nvPr/>
        </p:nvSpPr>
        <p:spPr>
          <a:xfrm>
            <a:off x="4663440" y="4206240"/>
            <a:ext cx="182880" cy="182880"/>
          </a:xfrm>
          <a:prstGeom prst="rect">
            <a:avLst/>
          </a:prstGeom>
          <a:solidFill>
            <a:srgbClr val="3E7C85"/>
          </a:solidFill>
          <a:ln w="12700">
            <a:solidFill>
              <a:srgbClr val="3E7C85"/>
            </a:solidFill>
            <a:prstDash val="solid"/>
          </a:ln>
        </p:spPr>
      </p:sp>
      <p:sp>
        <p:nvSpPr>
          <p:cNvPr id="55" name="Text 52"/>
          <p:cNvSpPr txBox="1"/>
          <p:nvPr/>
        </p:nvSpPr>
        <p:spPr>
          <a:xfrm>
            <a:off x="4919472" y="4160520"/>
            <a:ext cx="1737360" cy="274320"/>
          </a:xfrm>
          <a:prstGeom prst="rect">
            <a:avLst/>
          </a:prstGeom>
          <a:noFill/>
          <a:ln/>
        </p:spPr>
        <p:txBody>
          <a:bodyPr wrap="square" lIns="0" tIns="0" rIns="0" bIns="0" rtlCol="0" anchor="ctr"/>
          <a:lstStyle/>
          <a:p>
            <a:pPr marL="0" indent="0">
              <a:buNone/>
            </a:pPr>
            <a:r>
              <a:rPr lang="en-US" sz="1100" dirty="0">
                <a:solidFill>
                  <a:srgbClr val="5A6B7F"/>
                </a:solidFill>
                <a:latin typeface="Calibri" pitchFamily="34" charset="0"/>
                <a:ea typeface="Calibri" pitchFamily="34" charset="-122"/>
                <a:cs typeface="Calibri" pitchFamily="34" charset="-120"/>
              </a:rPr>
              <a:t>Modeling and evaluation</a:t>
            </a:r>
            <a:endParaRPr lang="en-US" sz="1100" dirty="0"/>
          </a:p>
        </p:txBody>
      </p:sp>
      <p:sp>
        <p:nvSpPr>
          <p:cNvPr id="56" name="Shape 53"/>
          <p:cNvSpPr/>
          <p:nvPr/>
        </p:nvSpPr>
        <p:spPr>
          <a:xfrm>
            <a:off x="6675120" y="4206240"/>
            <a:ext cx="182880" cy="182880"/>
          </a:xfrm>
          <a:prstGeom prst="rect">
            <a:avLst/>
          </a:prstGeom>
          <a:solidFill>
            <a:srgbClr val="7FAAB0"/>
          </a:solidFill>
          <a:ln w="12700">
            <a:solidFill>
              <a:srgbClr val="7FAAB0"/>
            </a:solidFill>
            <a:prstDash val="solid"/>
          </a:ln>
        </p:spPr>
      </p:sp>
      <p:sp>
        <p:nvSpPr>
          <p:cNvPr id="57" name="Text 54"/>
          <p:cNvSpPr txBox="1"/>
          <p:nvPr/>
        </p:nvSpPr>
        <p:spPr>
          <a:xfrm>
            <a:off x="6931152" y="4160520"/>
            <a:ext cx="1737360" cy="274320"/>
          </a:xfrm>
          <a:prstGeom prst="rect">
            <a:avLst/>
          </a:prstGeom>
          <a:noFill/>
          <a:ln/>
        </p:spPr>
        <p:txBody>
          <a:bodyPr wrap="square" lIns="0" tIns="0" rIns="0" bIns="0" rtlCol="0" anchor="ctr"/>
          <a:lstStyle/>
          <a:p>
            <a:pPr marL="0" indent="0">
              <a:buNone/>
            </a:pPr>
            <a:r>
              <a:rPr lang="en-US" sz="1100" dirty="0">
                <a:solidFill>
                  <a:srgbClr val="5A6B7F"/>
                </a:solidFill>
                <a:latin typeface="Calibri" pitchFamily="34" charset="0"/>
                <a:ea typeface="Calibri" pitchFamily="34" charset="-122"/>
                <a:cs typeface="Calibri" pitchFamily="34" charset="-120"/>
              </a:rPr>
              <a:t>Interpretation and communication</a:t>
            </a:r>
            <a:endParaRPr lang="en-US" sz="1100" dirty="0"/>
          </a:p>
        </p:txBody>
      </p:sp>
      <p:sp>
        <p:nvSpPr>
          <p:cNvPr id="4"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Training-Only Preprocessing and a Seeded 70/15/15 Split</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Text 2"/>
          <p:cNvSpPr txBox="1"/>
          <p:nvPr/>
        </p:nvSpPr>
        <p:spPr>
          <a:xfrm>
            <a:off x="457200" y="1280160"/>
            <a:ext cx="2011680" cy="457200"/>
          </a:xfrm>
          <a:prstGeom prst="rect">
            <a:avLst/>
          </a:prstGeom>
          <a:noFill/>
          <a:ln/>
        </p:spPr>
        <p:txBody>
          <a:bodyPr wrap="square" lIns="0" tIns="0" rIns="0" bIns="0" rtlCol="0" anchor="t"/>
          <a:lstStyle/>
          <a:p>
            <a:pPr marL="0" indent="0">
              <a:buNone/>
            </a:pPr>
            <a:r>
              <a:rPr lang="en-US" sz="2600" b="1" dirty="0">
                <a:solidFill>
                  <a:srgbClr val="0B2545"/>
                </a:solidFill>
                <a:latin typeface="Georgia" pitchFamily="34" charset="0"/>
                <a:ea typeface="Georgia" pitchFamily="34" charset="-122"/>
                <a:cs typeface="Georgia" pitchFamily="34" charset="-120"/>
              </a:rPr>
              <a:t>38</a:t>
            </a:r>
            <a:endParaRPr lang="en-US" sz="2600" dirty="0"/>
          </a:p>
        </p:txBody>
      </p:sp>
      <p:sp>
        <p:nvSpPr>
          <p:cNvPr id="6" name="Text 3"/>
          <p:cNvSpPr txBox="1"/>
          <p:nvPr/>
        </p:nvSpPr>
        <p:spPr>
          <a:xfrm>
            <a:off x="457200" y="1737360"/>
            <a:ext cx="201168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original predictors</a:t>
            </a:r>
            <a:endParaRPr lang="en-US" sz="1200" dirty="0"/>
          </a:p>
        </p:txBody>
      </p:sp>
      <p:sp>
        <p:nvSpPr>
          <p:cNvPr id="7" name="Text 4"/>
          <p:cNvSpPr txBox="1"/>
          <p:nvPr/>
        </p:nvSpPr>
        <p:spPr>
          <a:xfrm>
            <a:off x="2651760" y="1280160"/>
            <a:ext cx="2011680" cy="457200"/>
          </a:xfrm>
          <a:prstGeom prst="rect">
            <a:avLst/>
          </a:prstGeom>
          <a:noFill/>
          <a:ln/>
        </p:spPr>
        <p:txBody>
          <a:bodyPr wrap="square" lIns="0" tIns="0" rIns="0" bIns="0" rtlCol="0" anchor="t"/>
          <a:lstStyle/>
          <a:p>
            <a:pPr marL="0" indent="0">
              <a:buNone/>
            </a:pPr>
            <a:r>
              <a:rPr lang="en-US" sz="2600" b="1" dirty="0">
                <a:solidFill>
                  <a:srgbClr val="3E7C85"/>
                </a:solidFill>
                <a:latin typeface="Georgia" pitchFamily="34" charset="0"/>
                <a:ea typeface="Georgia" pitchFamily="34" charset="-122"/>
                <a:cs typeface="Georgia" pitchFamily="34" charset="-120"/>
              </a:rPr>
              <a:t>190</a:t>
            </a:r>
            <a:endParaRPr lang="en-US" sz="2600" dirty="0"/>
          </a:p>
        </p:txBody>
      </p:sp>
      <p:sp>
        <p:nvSpPr>
          <p:cNvPr id="8" name="Text 5"/>
          <p:cNvSpPr txBox="1"/>
          <p:nvPr/>
        </p:nvSpPr>
        <p:spPr>
          <a:xfrm>
            <a:off x="2651760" y="1737360"/>
            <a:ext cx="201168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transformed features</a:t>
            </a:r>
            <a:endParaRPr lang="en-US" sz="1200" dirty="0"/>
          </a:p>
        </p:txBody>
      </p:sp>
      <p:sp>
        <p:nvSpPr>
          <p:cNvPr id="9" name="Text 6"/>
          <p:cNvSpPr txBox="1"/>
          <p:nvPr/>
        </p:nvSpPr>
        <p:spPr>
          <a:xfrm>
            <a:off x="4846320" y="1280160"/>
            <a:ext cx="2011680" cy="457200"/>
          </a:xfrm>
          <a:prstGeom prst="rect">
            <a:avLst/>
          </a:prstGeom>
          <a:noFill/>
          <a:ln/>
        </p:spPr>
        <p:txBody>
          <a:bodyPr wrap="square" lIns="0" tIns="0" rIns="0" bIns="0" rtlCol="0" anchor="t"/>
          <a:lstStyle/>
          <a:p>
            <a:pPr marL="0" indent="0">
              <a:buNone/>
            </a:pPr>
            <a:r>
              <a:rPr lang="en-US" sz="2200" b="1" dirty="0">
                <a:solidFill>
                  <a:srgbClr val="1F3F6B"/>
                </a:solidFill>
                <a:latin typeface="Georgia" pitchFamily="34" charset="0"/>
                <a:ea typeface="Georgia" pitchFamily="34" charset="-122"/>
                <a:cs typeface="Georgia" pitchFamily="34" charset="-120"/>
              </a:rPr>
              <a:t>70/15/15</a:t>
            </a:r>
            <a:endParaRPr lang="en-US" sz="2200" dirty="0"/>
          </a:p>
        </p:txBody>
      </p:sp>
      <p:sp>
        <p:nvSpPr>
          <p:cNvPr id="10" name="Text 7"/>
          <p:cNvSpPr txBox="1"/>
          <p:nvPr/>
        </p:nvSpPr>
        <p:spPr>
          <a:xfrm>
            <a:off x="4846320" y="1737360"/>
            <a:ext cx="201168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stratified split</a:t>
            </a:r>
            <a:endParaRPr lang="en-US" sz="1200" dirty="0"/>
          </a:p>
        </p:txBody>
      </p:sp>
      <p:sp>
        <p:nvSpPr>
          <p:cNvPr id="11" name="Text 8"/>
          <p:cNvSpPr txBox="1"/>
          <p:nvPr/>
        </p:nvSpPr>
        <p:spPr>
          <a:xfrm>
            <a:off x="7040880" y="1280160"/>
            <a:ext cx="1645920" cy="457200"/>
          </a:xfrm>
          <a:prstGeom prst="rect">
            <a:avLst/>
          </a:prstGeom>
          <a:noFill/>
          <a:ln/>
        </p:spPr>
        <p:txBody>
          <a:bodyPr wrap="square" lIns="0" tIns="0" rIns="0" bIns="0" rtlCol="0" anchor="t"/>
          <a:lstStyle/>
          <a:p>
            <a:pPr marL="0" indent="0">
              <a:buNone/>
            </a:pPr>
            <a:r>
              <a:rPr lang="en-US" sz="2600" b="1" dirty="0">
                <a:solidFill>
                  <a:srgbClr val="5A6B7F"/>
                </a:solidFill>
                <a:latin typeface="Georgia" pitchFamily="34" charset="0"/>
                <a:ea typeface="Georgia" pitchFamily="34" charset="-122"/>
                <a:cs typeface="Georgia" pitchFamily="34" charset="-120"/>
              </a:rPr>
              <a:t>42</a:t>
            </a:r>
            <a:endParaRPr lang="en-US" sz="2600" dirty="0"/>
          </a:p>
        </p:txBody>
      </p:sp>
      <p:sp>
        <p:nvSpPr>
          <p:cNvPr id="12" name="Text 9"/>
          <p:cNvSpPr txBox="1"/>
          <p:nvPr/>
        </p:nvSpPr>
        <p:spPr>
          <a:xfrm>
            <a:off x="7040880" y="1737360"/>
            <a:ext cx="164592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fixed random seed</a:t>
            </a:r>
            <a:endParaRPr lang="en-US" sz="1200" dirty="0"/>
          </a:p>
        </p:txBody>
      </p:sp>
      <p:sp>
        <p:nvSpPr>
          <p:cNvPr id="13" name="Text 10"/>
          <p:cNvSpPr txBox="1"/>
          <p:nvPr/>
        </p:nvSpPr>
        <p:spPr>
          <a:xfrm>
            <a:off x="457200" y="2194560"/>
            <a:ext cx="822960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4 continuous + 34 categorical predictors; training-median imputation, standard scaling, one-hot encoding</a:t>
            </a:r>
            <a:endParaRPr lang="en-US" sz="1200" dirty="0"/>
          </a:p>
        </p:txBody>
      </p:sp>
      <p:sp>
        <p:nvSpPr>
          <p:cNvPr id="14" name="Shape 11"/>
          <p:cNvSpPr/>
          <p:nvPr/>
        </p:nvSpPr>
        <p:spPr>
          <a:xfrm>
            <a:off x="457200" y="2606040"/>
            <a:ext cx="5715000" cy="777240"/>
          </a:xfrm>
          <a:prstGeom prst="rect">
            <a:avLst/>
          </a:prstGeom>
          <a:solidFill>
            <a:srgbClr val="0B2545"/>
          </a:solidFill>
          <a:ln w="12700">
            <a:solidFill>
              <a:srgbClr val="0B2545"/>
            </a:solidFill>
            <a:prstDash val="solid"/>
          </a:ln>
        </p:spPr>
      </p:sp>
      <p:sp>
        <p:nvSpPr>
          <p:cNvPr id="15" name="Text 12"/>
          <p:cNvSpPr txBox="1"/>
          <p:nvPr/>
        </p:nvSpPr>
        <p:spPr>
          <a:xfrm>
            <a:off x="457200" y="2606040"/>
            <a:ext cx="571500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Training</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316,724</a:t>
            </a:r>
            <a:endParaRPr lang="en-US" sz="1600" dirty="0"/>
          </a:p>
        </p:txBody>
      </p:sp>
      <p:sp>
        <p:nvSpPr>
          <p:cNvPr id="16" name="Text 13"/>
          <p:cNvSpPr txBox="1"/>
          <p:nvPr/>
        </p:nvSpPr>
        <p:spPr>
          <a:xfrm>
            <a:off x="457200" y="3456432"/>
            <a:ext cx="5715000" cy="548640"/>
          </a:xfrm>
          <a:prstGeom prst="rect">
            <a:avLst/>
          </a:prstGeom>
          <a:noFill/>
          <a:ln/>
        </p:spPr>
        <p:txBody>
          <a:bodyPr wrap="square" lIns="0" tIns="0" rIns="0" bIns="0" rtlCol="0" anchor="t"/>
          <a:lstStyle/>
          <a:p>
            <a:pPr marL="0" indent="0" algn="l">
              <a:buNone/>
            </a:pPr>
            <a:r>
              <a:rPr lang="en-US" sz="1100" dirty="0">
                <a:solidFill>
                  <a:srgbClr val="5A6B7F"/>
                </a:solidFill>
                <a:latin typeface="Calibri" pitchFamily="34" charset="0"/>
                <a:ea typeface="Calibri" pitchFamily="34" charset="-122"/>
                <a:cs typeface="Calibri" pitchFamily="34" charset="-120"/>
              </a:rPr>
              <a:t>Fits preprocessing and all four models</a:t>
            </a:r>
            <a:endParaRPr lang="en-US" sz="1100" dirty="0"/>
          </a:p>
        </p:txBody>
      </p:sp>
      <p:sp>
        <p:nvSpPr>
          <p:cNvPr id="17" name="Shape 14"/>
          <p:cNvSpPr/>
          <p:nvPr/>
        </p:nvSpPr>
        <p:spPr>
          <a:xfrm>
            <a:off x="6217920" y="2606040"/>
            <a:ext cx="1188720" cy="777240"/>
          </a:xfrm>
          <a:prstGeom prst="rect">
            <a:avLst/>
          </a:prstGeom>
          <a:solidFill>
            <a:srgbClr val="3E7C85"/>
          </a:solidFill>
          <a:ln w="12700">
            <a:solidFill>
              <a:srgbClr val="3E7C85"/>
            </a:solidFill>
            <a:prstDash val="solid"/>
          </a:ln>
        </p:spPr>
      </p:sp>
      <p:sp>
        <p:nvSpPr>
          <p:cNvPr id="18" name="Text 15"/>
          <p:cNvSpPr txBox="1"/>
          <p:nvPr/>
        </p:nvSpPr>
        <p:spPr>
          <a:xfrm>
            <a:off x="6217920" y="2606040"/>
            <a:ext cx="118872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67,870</a:t>
            </a:r>
            <a:endParaRPr lang="en-US" sz="1200" dirty="0"/>
          </a:p>
        </p:txBody>
      </p:sp>
      <p:sp>
        <p:nvSpPr>
          <p:cNvPr id="19" name="Text 16"/>
          <p:cNvSpPr txBox="1"/>
          <p:nvPr/>
        </p:nvSpPr>
        <p:spPr>
          <a:xfrm>
            <a:off x="6217920" y="3456432"/>
            <a:ext cx="1188720" cy="548640"/>
          </a:xfrm>
          <a:prstGeom prst="rect">
            <a:avLst/>
          </a:prstGeom>
          <a:noFill/>
          <a:ln/>
        </p:spPr>
        <p:txBody>
          <a:bodyPr wrap="square" lIns="0" tIns="0" rIns="0" bIns="0" rtlCol="0" anchor="t"/>
          <a:lstStyle/>
          <a:p>
            <a:pPr marL="0" indent="0" algn="ctr">
              <a:buNone/>
            </a:pPr>
            <a:r>
              <a:rPr lang="en-US" sz="1100" dirty="0">
                <a:solidFill>
                  <a:srgbClr val="5A6B7F"/>
                </a:solidFill>
                <a:latin typeface="Calibri" pitchFamily="34" charset="0"/>
                <a:ea typeface="Calibri" pitchFamily="34" charset="-122"/>
                <a:cs typeface="Calibri" pitchFamily="34" charset="-120"/>
              </a:rPr>
              <a:t>Model comparison, champion, threshold</a:t>
            </a:r>
            <a:endParaRPr lang="en-US" sz="1100" dirty="0"/>
          </a:p>
        </p:txBody>
      </p:sp>
      <p:sp>
        <p:nvSpPr>
          <p:cNvPr id="20" name="Shape 17"/>
          <p:cNvSpPr/>
          <p:nvPr/>
        </p:nvSpPr>
        <p:spPr>
          <a:xfrm>
            <a:off x="7452360" y="2606040"/>
            <a:ext cx="1188720" cy="777240"/>
          </a:xfrm>
          <a:prstGeom prst="rect">
            <a:avLst/>
          </a:prstGeom>
          <a:solidFill>
            <a:srgbClr val="1F3F6B"/>
          </a:solidFill>
          <a:ln w="12700">
            <a:solidFill>
              <a:srgbClr val="1F3F6B"/>
            </a:solidFill>
            <a:prstDash val="solid"/>
          </a:ln>
        </p:spPr>
      </p:sp>
      <p:sp>
        <p:nvSpPr>
          <p:cNvPr id="21" name="Text 18"/>
          <p:cNvSpPr txBox="1"/>
          <p:nvPr/>
        </p:nvSpPr>
        <p:spPr>
          <a:xfrm>
            <a:off x="7452360" y="2606040"/>
            <a:ext cx="118872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67,870</a:t>
            </a:r>
            <a:endParaRPr lang="en-US" sz="1200" dirty="0"/>
          </a:p>
        </p:txBody>
      </p:sp>
      <p:sp>
        <p:nvSpPr>
          <p:cNvPr id="22" name="Text 19"/>
          <p:cNvSpPr txBox="1"/>
          <p:nvPr/>
        </p:nvSpPr>
        <p:spPr>
          <a:xfrm>
            <a:off x="7452360" y="3456432"/>
            <a:ext cx="1188720" cy="548640"/>
          </a:xfrm>
          <a:prstGeom prst="rect">
            <a:avLst/>
          </a:prstGeom>
          <a:noFill/>
          <a:ln/>
        </p:spPr>
        <p:txBody>
          <a:bodyPr wrap="square" lIns="0" tIns="0" rIns="0" bIns="0" rtlCol="0" anchor="t"/>
          <a:lstStyle/>
          <a:p>
            <a:pPr marL="0" indent="0" algn="ctr">
              <a:buNone/>
            </a:pPr>
            <a:r>
              <a:rPr lang="en-US" sz="1100" dirty="0">
                <a:solidFill>
                  <a:srgbClr val="5A6B7F"/>
                </a:solidFill>
                <a:latin typeface="Calibri" pitchFamily="34" charset="0"/>
                <a:ea typeface="Calibri" pitchFamily="34" charset="-122"/>
                <a:cs typeface="Calibri" pitchFamily="34" charset="-120"/>
              </a:rPr>
              <a:t>Final holdout only</a:t>
            </a:r>
            <a:endParaRPr lang="en-US" sz="1100" dirty="0"/>
          </a:p>
        </p:txBody>
      </p:sp>
      <p:sp>
        <p:nvSpPr>
          <p:cNvPr id="23" name="Shape 20"/>
          <p:cNvSpPr/>
          <p:nvPr/>
        </p:nvSpPr>
        <p:spPr>
          <a:xfrm>
            <a:off x="457200" y="4023360"/>
            <a:ext cx="8229600" cy="411480"/>
          </a:xfrm>
          <a:prstGeom prst="rect">
            <a:avLst/>
          </a:prstGeom>
          <a:solidFill>
            <a:srgbClr val="E4EFF0"/>
          </a:solidFill>
          <a:ln w="12700">
            <a:solidFill>
              <a:srgbClr val="E4EFF0"/>
            </a:solidFill>
            <a:prstDash val="solid"/>
          </a:ln>
        </p:spPr>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Age 65+ Shows the Largest Adjusted Association (aOR 4.57)</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graphicFrame>
        <p:nvGraphicFramePr>
          <p:cNvPr id="5" name="Chart 0"/>
          <p:cNvGraphicFramePr/>
          <p:nvPr/>
        </p:nvGraphicFramePr>
        <p:xfrm>
          <a:off x="365760" y="1280160"/>
          <a:ext cx="51206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715000" y="1280160"/>
            <a:ext cx="2971800" cy="1417320"/>
          </a:xfrm>
          <a:prstGeom prst="rect">
            <a:avLst/>
          </a:prstGeom>
          <a:solidFill>
            <a:srgbClr val="E4EFF0"/>
          </a:solidFill>
          <a:ln w="12700">
            <a:solidFill>
              <a:srgbClr val="E4EFF0"/>
            </a:solidFill>
            <a:prstDash val="solid"/>
          </a:ln>
        </p:spPr>
      </p:sp>
      <p:sp>
        <p:nvSpPr>
          <p:cNvPr id="7" name="Text 3"/>
          <p:cNvSpPr txBox="1"/>
          <p:nvPr/>
        </p:nvSpPr>
        <p:spPr>
          <a:xfrm>
            <a:off x="5852160" y="1353312"/>
            <a:ext cx="2743200" cy="274320"/>
          </a:xfrm>
          <a:prstGeom prst="rect">
            <a:avLst/>
          </a:prstGeom>
          <a:noFill/>
          <a:ln/>
        </p:spPr>
        <p:txBody>
          <a:bodyPr wrap="square" lIns="0" tIns="0" rIns="0" bIns="0" rtlCol="0" anchor="t"/>
          <a:lstStyle/>
          <a:p>
            <a:pPr marL="0" indent="0">
              <a:buNone/>
            </a:pPr>
            <a:r>
              <a:rPr lang="en-US" sz="1100" b="1" kern="0" spc="100" dirty="0">
                <a:solidFill>
                  <a:srgbClr val="3E7C85"/>
                </a:solidFill>
                <a:latin typeface="Calibri" pitchFamily="34" charset="0"/>
                <a:ea typeface="Calibri" pitchFamily="34" charset="-122"/>
                <a:cs typeface="Calibri" pitchFamily="34" charset="-120"/>
              </a:rPr>
              <a:t>COMBINED BEHAVIORAL RISK</a:t>
            </a:r>
            <a:endParaRPr lang="en-US" sz="1100" dirty="0"/>
          </a:p>
        </p:txBody>
      </p:sp>
      <p:sp>
        <p:nvSpPr>
          <p:cNvPr id="8" name="Text 4"/>
          <p:cNvSpPr txBox="1"/>
          <p:nvPr/>
        </p:nvSpPr>
        <p:spPr>
          <a:xfrm>
            <a:off x="5852160" y="1627632"/>
            <a:ext cx="2743200" cy="45720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3.22%  &gt;  12.44%</a:t>
            </a:r>
            <a:endParaRPr lang="en-US" sz="2200" dirty="0"/>
          </a:p>
        </p:txBody>
      </p:sp>
      <p:sp>
        <p:nvSpPr>
          <p:cNvPr id="9" name="Text 5"/>
          <p:cNvSpPr txBox="1"/>
          <p:nvPr/>
        </p:nvSpPr>
        <p:spPr>
          <a:xfrm>
            <a:off x="5852160" y="2103120"/>
            <a:ext cx="2743200" cy="548640"/>
          </a:xfrm>
          <a:prstGeom prst="rect">
            <a:avLst/>
          </a:prstGeom>
          <a:noFill/>
          <a:ln/>
        </p:spPr>
        <p:txBody>
          <a:bodyPr wrap="square" lIns="0" tIns="0" rIns="0" bIns="0" rtlCol="0" anchor="t"/>
          <a:lstStyle/>
          <a:p>
            <a:pPr marL="0" indent="0">
              <a:buNone/>
            </a:pPr>
            <a:r>
              <a:rPr lang="en-US" sz="1100" dirty="0">
                <a:solidFill>
                  <a:srgbClr val="5A6B7F"/>
                </a:solidFill>
                <a:latin typeface="Calibri" pitchFamily="34" charset="0"/>
                <a:ea typeface="Calibri" pitchFamily="34" charset="-122"/>
                <a:cs typeface="Calibri" pitchFamily="34" charset="-120"/>
              </a:rPr>
              <a:t>weighted prevalence: none vs all three specified risk factors</a:t>
            </a:r>
            <a:endParaRPr lang="en-US" sz="1100" dirty="0"/>
          </a:p>
        </p:txBody>
      </p:sp>
      <p:sp>
        <p:nvSpPr>
          <p:cNvPr id="10" name="Shape 6"/>
          <p:cNvSpPr/>
          <p:nvPr/>
        </p:nvSpPr>
        <p:spPr>
          <a:xfrm>
            <a:off x="5715000" y="2834640"/>
            <a:ext cx="2971800" cy="1554480"/>
          </a:xfrm>
          <a:prstGeom prst="rect">
            <a:avLst/>
          </a:prstGeom>
          <a:solidFill>
            <a:srgbClr val="FFFFFF"/>
          </a:solidFill>
          <a:ln w="12700">
            <a:solidFill>
              <a:srgbClr val="D5DCE5"/>
            </a:solidFill>
            <a:prstDash val="solid"/>
          </a:ln>
        </p:spPr>
      </p:sp>
      <p:sp>
        <p:nvSpPr>
          <p:cNvPr id="11" name="Text 7"/>
          <p:cNvSpPr txBox="1"/>
          <p:nvPr/>
        </p:nvSpPr>
        <p:spPr>
          <a:xfrm>
            <a:off x="5852160" y="2907792"/>
            <a:ext cx="2743200" cy="274320"/>
          </a:xfrm>
          <a:prstGeom prst="rect">
            <a:avLst/>
          </a:prstGeom>
          <a:noFill/>
          <a:ln/>
        </p:spPr>
        <p:txBody>
          <a:bodyPr wrap="square" lIns="0" tIns="0" rIns="0" bIns="0" rtlCol="0" anchor="t"/>
          <a:lstStyle/>
          <a:p>
            <a:pPr marL="0" indent="0">
              <a:buNone/>
            </a:pPr>
            <a:r>
              <a:rPr lang="en-US" sz="1100" b="1" kern="0" spc="100" dirty="0">
                <a:solidFill>
                  <a:srgbClr val="3E7C85"/>
                </a:solidFill>
                <a:latin typeface="Calibri" pitchFamily="34" charset="0"/>
                <a:ea typeface="Calibri" pitchFamily="34" charset="-122"/>
                <a:cs typeface="Calibri" pitchFamily="34" charset="-120"/>
              </a:rPr>
              <a:t>ARTHRITIS (HAVARTH4)</a:t>
            </a:r>
            <a:endParaRPr lang="en-US" sz="1100" dirty="0"/>
          </a:p>
        </p:txBody>
      </p:sp>
      <p:sp>
        <p:nvSpPr>
          <p:cNvPr id="12" name="Text 8"/>
          <p:cNvSpPr txBox="1"/>
          <p:nvPr/>
        </p:nvSpPr>
        <p:spPr>
          <a:xfrm>
            <a:off x="5852160" y="3182112"/>
            <a:ext cx="2743200" cy="457200"/>
          </a:xfrm>
          <a:prstGeom prst="rect">
            <a:avLst/>
          </a:prstGeom>
          <a:noFill/>
          <a:ln/>
        </p:spPr>
        <p:txBody>
          <a:bodyPr wrap="square" lIns="0" tIns="0" rIns="0" bIns="0" rtlCol="0" anchor="t"/>
          <a:lstStyle/>
          <a:p>
            <a:pPr marL="0" indent="0">
              <a:buNone/>
            </a:pPr>
            <a:r>
              <a:rPr lang="en-US" sz="2000" b="1" dirty="0">
                <a:solidFill>
                  <a:srgbClr val="0B2545"/>
                </a:solidFill>
                <a:latin typeface="Georgia" pitchFamily="34" charset="0"/>
                <a:ea typeface="Georgia" pitchFamily="34" charset="-122"/>
                <a:cs typeface="Georgia" pitchFamily="34" charset="-120"/>
              </a:rPr>
              <a:t>34.79%  vs  26.55%</a:t>
            </a:r>
            <a:endParaRPr lang="en-US" sz="2000" dirty="0"/>
          </a:p>
        </p:txBody>
      </p:sp>
      <p:sp>
        <p:nvSpPr>
          <p:cNvPr id="13" name="Text 9"/>
          <p:cNvSpPr txBox="1"/>
          <p:nvPr/>
        </p:nvSpPr>
        <p:spPr>
          <a:xfrm>
            <a:off x="5852160" y="3639312"/>
            <a:ext cx="2743200" cy="731520"/>
          </a:xfrm>
          <a:prstGeom prst="rect">
            <a:avLst/>
          </a:prstGeom>
          <a:noFill/>
          <a:ln/>
        </p:spPr>
        <p:txBody>
          <a:bodyPr wrap="square" lIns="0" tIns="0" rIns="0" bIns="0" rtlCol="0" anchor="t"/>
          <a:lstStyle/>
          <a:p>
            <a:pPr marL="0" indent="0">
              <a:buNone/>
            </a:pPr>
            <a:r>
              <a:rPr lang="en-US" sz="1100" dirty="0">
                <a:solidFill>
                  <a:srgbClr val="5A6B7F"/>
                </a:solidFill>
                <a:latin typeface="Calibri" pitchFamily="34" charset="0"/>
                <a:ea typeface="Calibri" pitchFamily="34" charset="-122"/>
                <a:cs typeface="Calibri" pitchFamily="34" charset="-120"/>
              </a:rPr>
              <a:t>unweighted vs survey-weighted prevalence; associations only, not causes</a:t>
            </a:r>
            <a:endParaRPr lang="en-US" sz="1100" dirty="0"/>
          </a:p>
        </p:txBody>
      </p:sp>
      <p:sp>
        <p:nvSpPr>
          <p:cNvPr id="14" name="Text 10"/>
          <p:cNvSpPr txBox="1"/>
          <p:nvPr/>
        </p:nvSpPr>
        <p:spPr>
          <a:xfrm>
            <a:off x="457200" y="4462272"/>
            <a:ext cx="8229600" cy="228600"/>
          </a:xfrm>
          <a:prstGeom prst="rect">
            <a:avLst/>
          </a:prstGeom>
          <a:noFill/>
          <a:ln/>
        </p:spPr>
        <p:txBody>
          <a:bodyPr wrap="square" lIns="0" tIns="0" rIns="0" bIns="0" rtlCol="0" anchor="t"/>
          <a:lstStyle/>
          <a:p>
            <a:pPr marL="0" indent="0">
              <a:buNone/>
            </a:pPr>
            <a:r>
              <a:rPr lang="en-US" sz="1000" i="1" dirty="0">
                <a:solidFill>
                  <a:srgbClr val="5A6B7F"/>
                </a:solidFill>
                <a:latin typeface="Calibri" pitchFamily="34" charset="0"/>
                <a:ea typeface="Calibri" pitchFamily="34" charset="-122"/>
                <a:cs typeface="Calibri" pitchFamily="34" charset="-120"/>
              </a:rPr>
              <a:t>Source: project report, Sec. 6.2 (outcome and risk-factor definitions to be confirmed; see notes)</a:t>
            </a:r>
            <a:endParaRPr lang="en-US" sz="10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Unweighted HistGradientBoosting Leads on PR-AUC and Brier Score</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Text 2"/>
          <p:cNvSpPr txBox="1"/>
          <p:nvPr/>
        </p:nvSpPr>
        <p:spPr>
          <a:xfrm>
            <a:off x="457200" y="1234440"/>
            <a:ext cx="8229600" cy="457200"/>
          </a:xfrm>
          <a:prstGeom prst="rect">
            <a:avLst/>
          </a:prstGeom>
          <a:noFill/>
          <a:ln/>
        </p:spPr>
        <p:txBody>
          <a:bodyPr wrap="square" lIns="0" tIns="0" rIns="0" bIns="0" rtlCol="0" anchor="t"/>
          <a:lstStyle/>
          <a:p>
            <a:pPr marL="0" indent="0">
              <a:buNone/>
            </a:pPr>
            <a:r>
              <a:rPr lang="en-US" sz="1200" b="1" dirty="0">
                <a:solidFill>
                  <a:srgbClr val="5A6B7F"/>
                </a:solidFill>
                <a:latin typeface="Calibri" pitchFamily="34" charset="0"/>
                <a:ea typeface="Calibri" pitchFamily="34" charset="-122"/>
                <a:cs typeface="Calibri" pitchFamily="34" charset="-120"/>
              </a:rPr>
              <a:t>LR</a:t>
            </a:r>
            <a:r>
              <a:rPr lang="en-US" sz="1200" dirty="0">
                <a:solidFill>
                  <a:srgbClr val="5A6B7F"/>
                </a:solidFill>
                <a:latin typeface="Calibri" pitchFamily="34" charset="0"/>
                <a:ea typeface="Calibri" pitchFamily="34" charset="-122"/>
                <a:cs typeface="Calibri" pitchFamily="34" charset="-120"/>
              </a:rPr>
              <a:t> = Logistic Regression (linear baseline).  </a:t>
            </a:r>
            <a:r>
              <a:rPr lang="en-US" sz="1200" b="1" dirty="0">
                <a:solidFill>
                  <a:srgbClr val="5A6B7F"/>
                </a:solidFill>
                <a:latin typeface="Calibri" pitchFamily="34" charset="0"/>
                <a:ea typeface="Calibri" pitchFamily="34" charset="-122"/>
                <a:cs typeface="Calibri" pitchFamily="34" charset="-120"/>
              </a:rPr>
              <a:t>HGB</a:t>
            </a:r>
            <a:r>
              <a:rPr lang="en-US" sz="1200" dirty="0">
                <a:solidFill>
                  <a:srgbClr val="5A6B7F"/>
                </a:solidFill>
                <a:latin typeface="Calibri" pitchFamily="34" charset="0"/>
                <a:ea typeface="Calibri" pitchFamily="34" charset="-122"/>
                <a:cs typeface="Calibri" pitchFamily="34" charset="-120"/>
              </a:rPr>
              <a:t> = HistGradientBoostingClassifier (nonlinear).  Weighted = class-weighted.  Teal = selected champion.</a:t>
            </a:r>
            <a:endParaRPr lang="en-US" sz="1200" dirty="0"/>
          </a:p>
        </p:txBody>
      </p:sp>
      <p:graphicFrame>
        <p:nvGraphicFramePr>
          <p:cNvPr id="6" name="Chart 0"/>
          <p:cNvGraphicFramePr/>
          <p:nvPr/>
        </p:nvGraphicFramePr>
        <p:xfrm>
          <a:off x="365760" y="1645920"/>
          <a:ext cx="420624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4572000" y="1645920"/>
          <a:ext cx="420624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457200" y="3977640"/>
            <a:ext cx="8229600" cy="457200"/>
          </a:xfrm>
          <a:prstGeom prst="rect">
            <a:avLst/>
          </a:prstGeom>
          <a:solidFill>
            <a:srgbClr val="E4EFF0"/>
          </a:solidFill>
          <a:ln w="12700">
            <a:solidFill>
              <a:srgbClr val="E4EFF0"/>
            </a:solidFill>
            <a:prstDash val="solid"/>
          </a:ln>
        </p:spPr>
      </p:sp>
      <p:sp>
        <p:nvSpPr>
          <p:cNvPr id="9" name="Text 4"/>
          <p:cNvSpPr txBox="1"/>
          <p:nvPr/>
        </p:nvSpPr>
        <p:spPr>
          <a:xfrm>
            <a:off x="594360" y="3977640"/>
            <a:ext cx="7955280" cy="457200"/>
          </a:xfrm>
          <a:prstGeom prst="rect">
            <a:avLst/>
          </a:prstGeom>
          <a:noFill/>
          <a:ln/>
        </p:spPr>
        <p:txBody>
          <a:bodyPr wrap="square" lIns="0" tIns="0" rIns="0" bIns="0" rtlCol="0" anchor="ctr"/>
          <a:lstStyle/>
          <a:p>
            <a:pPr marL="0" indent="0">
              <a:buNone/>
            </a:pPr>
            <a:r>
              <a:rPr lang="en-US" sz="1150" dirty="0">
                <a:solidFill>
                  <a:srgbClr val="0B2545"/>
                </a:solidFill>
                <a:latin typeface="Calibri" pitchFamily="34" charset="0"/>
                <a:ea typeface="Calibri" pitchFamily="34" charset="-122"/>
                <a:cs typeface="Calibri" pitchFamily="34" charset="-120"/>
              </a:rPr>
              <a:t>Validation ROC-AUC: 0.8413 | 0.8413 | 0.8449 | 0.8450 (weighted HGB marginally highest). Selection used PR-AUC; calibration considered.</a:t>
            </a:r>
            <a:endParaRPr lang="en-US" sz="1150" dirty="0"/>
          </a:p>
        </p:txBody>
      </p:sp>
      <p:sp>
        <p:nvSpPr>
          <p:cNvPr id="10" name="Text 5"/>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000" i="1" dirty="0">
                <a:solidFill>
                  <a:srgbClr val="5A6B7F"/>
                </a:solidFill>
                <a:latin typeface="Calibri" pitchFamily="34" charset="0"/>
                <a:ea typeface="Calibri" pitchFamily="34" charset="-122"/>
                <a:cs typeface="Calibri" pitchFamily="34" charset="-120"/>
              </a:rPr>
              <a:t>Source: project report, Sec. 8.1 (validation partition, n = 67,870)</a:t>
            </a:r>
            <a:endParaRPr lang="en-US" sz="10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Threshold 0.080 Raises Sensitivity from 10.91% to 83.91%</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graphicFrame>
        <p:nvGraphicFramePr>
          <p:cNvPr id="5" name="Chart 0"/>
          <p:cNvGraphicFramePr/>
          <p:nvPr/>
        </p:nvGraphicFramePr>
        <p:xfrm>
          <a:off x="365760" y="1280160"/>
          <a:ext cx="484632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486400" y="1280160"/>
            <a:ext cx="320040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METHOD</a:t>
            </a:r>
            <a:endParaRPr lang="en-US" sz="1200" dirty="0"/>
          </a:p>
        </p:txBody>
      </p:sp>
      <p:sp>
        <p:nvSpPr>
          <p:cNvPr id="7" name="Text 3"/>
          <p:cNvSpPr txBox="1"/>
          <p:nvPr/>
        </p:nvSpPr>
        <p:spPr>
          <a:xfrm>
            <a:off x="5486400" y="1572768"/>
            <a:ext cx="3200400" cy="8686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Youden's J = sensitivity + specificity - 1</a:t>
            </a:r>
            <a:endParaRPr lang="en-US" sz="1300" dirty="0"/>
          </a:p>
          <a:p>
            <a:pPr marL="0" indent="0">
              <a:buNone/>
            </a:pPr>
            <a:r>
              <a:rPr lang="en-US" sz="1200" dirty="0">
                <a:solidFill>
                  <a:srgbClr val="5A6B7F"/>
                </a:solidFill>
                <a:latin typeface="Calibri" pitchFamily="34" charset="0"/>
                <a:ea typeface="Calibri" pitchFamily="34" charset="-122"/>
                <a:cs typeface="Calibri" pitchFamily="34" charset="-120"/>
              </a:rPr>
              <a:t>Maximized on the validation set, locked before the holdout test.</a:t>
            </a:r>
            <a:endParaRPr lang="en-US" sz="1300" dirty="0"/>
          </a:p>
        </p:txBody>
      </p:sp>
      <p:sp>
        <p:nvSpPr>
          <p:cNvPr id="8" name="Text 4"/>
          <p:cNvSpPr txBox="1"/>
          <p:nvPr/>
        </p:nvSpPr>
        <p:spPr>
          <a:xfrm>
            <a:off x="5486400" y="2560320"/>
            <a:ext cx="320040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TRADE-OFF</a:t>
            </a:r>
            <a:endParaRPr lang="en-US" sz="1200" dirty="0"/>
          </a:p>
        </p:txBody>
      </p:sp>
      <p:sp>
        <p:nvSpPr>
          <p:cNvPr id="9" name="Text 5"/>
          <p:cNvSpPr txBox="1"/>
          <p:nvPr/>
        </p:nvSpPr>
        <p:spPr>
          <a:xfrm>
            <a:off x="5486400" y="2852928"/>
            <a:ext cx="3200400" cy="15544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0B2545"/>
                </a:solidFill>
                <a:latin typeface="Calibri" pitchFamily="34" charset="0"/>
                <a:ea typeface="Calibri" pitchFamily="34" charset="-122"/>
                <a:cs typeface="Calibri" pitchFamily="34" charset="-120"/>
              </a:rPr>
              <a:t>0.50 finds 10.91% of positives</a:t>
            </a:r>
            <a:endParaRPr lang="en-US" sz="1250" dirty="0"/>
          </a:p>
          <a:p>
            <a:pPr marL="342900" indent="-342900">
              <a:spcAft>
                <a:spcPts val="500"/>
              </a:spcAft>
              <a:buSzPct val="100000"/>
              <a:buChar char="•"/>
            </a:pPr>
            <a:r>
              <a:rPr lang="en-US" sz="1250" dirty="0">
                <a:solidFill>
                  <a:srgbClr val="0B2545"/>
                </a:solidFill>
                <a:latin typeface="Calibri" pitchFamily="34" charset="0"/>
                <a:ea typeface="Calibri" pitchFamily="34" charset="-122"/>
                <a:cs typeface="Calibri" pitchFamily="34" charset="-120"/>
              </a:rPr>
              <a:t>0.080 finds 83.91% but flags 18,179 negatives (precision 22.67%)</a:t>
            </a:r>
            <a:endParaRPr lang="en-US" sz="1250" dirty="0"/>
          </a:p>
          <a:p>
            <a:pPr marL="342900" indent="-342900">
              <a:spcAft>
                <a:spcPts val="500"/>
              </a:spcAft>
              <a:buSzPct val="100000"/>
              <a:buChar char="•"/>
            </a:pPr>
            <a:r>
              <a:rPr lang="en-US" sz="1250" dirty="0">
                <a:solidFill>
                  <a:srgbClr val="0B2545"/>
                </a:solidFill>
                <a:latin typeface="Calibri" pitchFamily="34" charset="0"/>
                <a:ea typeface="Calibri" pitchFamily="34" charset="-122"/>
                <a:cs typeface="Calibri" pitchFamily="34" charset="-120"/>
              </a:rPr>
              <a:t>Analytical operating point, not a clinical boundary</a:t>
            </a:r>
            <a:endParaRPr lang="en-US" sz="1250" dirty="0"/>
          </a:p>
        </p:txBody>
      </p:sp>
      <p:sp>
        <p:nvSpPr>
          <p:cNvPr id="10" name="Text 6"/>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000" i="1" dirty="0">
                <a:solidFill>
                  <a:srgbClr val="5A6B7F"/>
                </a:solidFill>
                <a:latin typeface="Calibri" pitchFamily="34" charset="0"/>
                <a:ea typeface="Calibri" pitchFamily="34" charset="-122"/>
                <a:cs typeface="Calibri" pitchFamily="34" charset="-120"/>
              </a:rPr>
              <a:t>Source: project report, Secs. 7.6 and 8.4</a:t>
            </a:r>
            <a:endParaRPr lang="en-US" sz="10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Holdout: PR-AUC 0.3808 with 22.67% Precision at 0.080</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Text 2"/>
          <p:cNvSpPr txBox="1"/>
          <p:nvPr/>
        </p:nvSpPr>
        <p:spPr>
          <a:xfrm>
            <a:off x="457200" y="1280160"/>
            <a:ext cx="512064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THRESHOLD-INDEPENDENT</a:t>
            </a:r>
            <a:endParaRPr lang="en-US" sz="1200" dirty="0"/>
          </a:p>
        </p:txBody>
      </p:sp>
      <p:sp>
        <p:nvSpPr>
          <p:cNvPr id="6" name="Shape 3"/>
          <p:cNvSpPr/>
          <p:nvPr/>
        </p:nvSpPr>
        <p:spPr>
          <a:xfrm>
            <a:off x="457200" y="1554480"/>
            <a:ext cx="1645920" cy="777240"/>
          </a:xfrm>
          <a:prstGeom prst="rect">
            <a:avLst/>
          </a:prstGeom>
          <a:solidFill>
            <a:srgbClr val="E4EFF0"/>
          </a:solidFill>
          <a:ln w="12700">
            <a:solidFill>
              <a:srgbClr val="E4EFF0"/>
            </a:solidFill>
            <a:prstDash val="solid"/>
          </a:ln>
        </p:spPr>
      </p:sp>
      <p:sp>
        <p:nvSpPr>
          <p:cNvPr id="7" name="Text 4"/>
          <p:cNvSpPr txBox="1"/>
          <p:nvPr/>
        </p:nvSpPr>
        <p:spPr>
          <a:xfrm>
            <a:off x="457200" y="1591056"/>
            <a:ext cx="1645920" cy="411480"/>
          </a:xfrm>
          <a:prstGeom prst="rect">
            <a:avLst/>
          </a:prstGeom>
          <a:noFill/>
          <a:ln/>
        </p:spPr>
        <p:txBody>
          <a:bodyPr wrap="square" lIns="0" tIns="0" rIns="0" bIns="0" rtlCol="0" anchor="t"/>
          <a:lstStyle/>
          <a:p>
            <a:pPr marL="0" indent="0" algn="ctr">
              <a:buNone/>
            </a:pPr>
            <a:r>
              <a:rPr lang="en-US" sz="2200" b="1" dirty="0">
                <a:solidFill>
                  <a:srgbClr val="0B2545"/>
                </a:solidFill>
                <a:latin typeface="Georgia" pitchFamily="34" charset="0"/>
                <a:ea typeface="Georgia" pitchFamily="34" charset="-122"/>
                <a:cs typeface="Georgia" pitchFamily="34" charset="-120"/>
              </a:rPr>
              <a:t>0.3808</a:t>
            </a:r>
            <a:endParaRPr lang="en-US" sz="2200" dirty="0"/>
          </a:p>
        </p:txBody>
      </p:sp>
      <p:sp>
        <p:nvSpPr>
          <p:cNvPr id="8" name="Text 5"/>
          <p:cNvSpPr txBox="1"/>
          <p:nvPr/>
        </p:nvSpPr>
        <p:spPr>
          <a:xfrm>
            <a:off x="457200" y="2011680"/>
            <a:ext cx="1645920" cy="274320"/>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PR-AUC</a:t>
            </a:r>
            <a:endParaRPr lang="en-US" sz="1200" dirty="0"/>
          </a:p>
        </p:txBody>
      </p:sp>
      <p:sp>
        <p:nvSpPr>
          <p:cNvPr id="9" name="Shape 6"/>
          <p:cNvSpPr/>
          <p:nvPr/>
        </p:nvSpPr>
        <p:spPr>
          <a:xfrm>
            <a:off x="2194560" y="1554480"/>
            <a:ext cx="1645920" cy="777240"/>
          </a:xfrm>
          <a:prstGeom prst="rect">
            <a:avLst/>
          </a:prstGeom>
          <a:solidFill>
            <a:srgbClr val="E4EFF0"/>
          </a:solidFill>
          <a:ln w="12700">
            <a:solidFill>
              <a:srgbClr val="E4EFF0"/>
            </a:solidFill>
            <a:prstDash val="solid"/>
          </a:ln>
        </p:spPr>
      </p:sp>
      <p:sp>
        <p:nvSpPr>
          <p:cNvPr id="10" name="Text 7"/>
          <p:cNvSpPr txBox="1"/>
          <p:nvPr/>
        </p:nvSpPr>
        <p:spPr>
          <a:xfrm>
            <a:off x="2194560" y="1591056"/>
            <a:ext cx="1645920" cy="411480"/>
          </a:xfrm>
          <a:prstGeom prst="rect">
            <a:avLst/>
          </a:prstGeom>
          <a:noFill/>
          <a:ln/>
        </p:spPr>
        <p:txBody>
          <a:bodyPr wrap="square" lIns="0" tIns="0" rIns="0" bIns="0" rtlCol="0" anchor="t"/>
          <a:lstStyle/>
          <a:p>
            <a:pPr marL="0" indent="0" algn="ctr">
              <a:buNone/>
            </a:pPr>
            <a:r>
              <a:rPr lang="en-US" sz="2200" b="1" dirty="0">
                <a:solidFill>
                  <a:srgbClr val="0B2545"/>
                </a:solidFill>
                <a:latin typeface="Georgia" pitchFamily="34" charset="0"/>
                <a:ea typeface="Georgia" pitchFamily="34" charset="-122"/>
                <a:cs typeface="Georgia" pitchFamily="34" charset="-120"/>
              </a:rPr>
              <a:t>0.8492</a:t>
            </a:r>
            <a:endParaRPr lang="en-US" sz="2200" dirty="0"/>
          </a:p>
        </p:txBody>
      </p:sp>
      <p:sp>
        <p:nvSpPr>
          <p:cNvPr id="11" name="Text 8"/>
          <p:cNvSpPr txBox="1"/>
          <p:nvPr/>
        </p:nvSpPr>
        <p:spPr>
          <a:xfrm>
            <a:off x="2194560" y="2011680"/>
            <a:ext cx="1645920" cy="274320"/>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ROC-AUC</a:t>
            </a:r>
            <a:endParaRPr lang="en-US" sz="1200" dirty="0"/>
          </a:p>
        </p:txBody>
      </p:sp>
      <p:sp>
        <p:nvSpPr>
          <p:cNvPr id="12" name="Shape 9"/>
          <p:cNvSpPr/>
          <p:nvPr/>
        </p:nvSpPr>
        <p:spPr>
          <a:xfrm>
            <a:off x="3931920" y="1554480"/>
            <a:ext cx="1645920" cy="777240"/>
          </a:xfrm>
          <a:prstGeom prst="rect">
            <a:avLst/>
          </a:prstGeom>
          <a:solidFill>
            <a:srgbClr val="E4EFF0"/>
          </a:solidFill>
          <a:ln w="12700">
            <a:solidFill>
              <a:srgbClr val="E4EFF0"/>
            </a:solidFill>
            <a:prstDash val="solid"/>
          </a:ln>
        </p:spPr>
      </p:sp>
      <p:sp>
        <p:nvSpPr>
          <p:cNvPr id="13" name="Text 10"/>
          <p:cNvSpPr txBox="1"/>
          <p:nvPr/>
        </p:nvSpPr>
        <p:spPr>
          <a:xfrm>
            <a:off x="3931920" y="1591056"/>
            <a:ext cx="1645920" cy="411480"/>
          </a:xfrm>
          <a:prstGeom prst="rect">
            <a:avLst/>
          </a:prstGeom>
          <a:noFill/>
          <a:ln/>
        </p:spPr>
        <p:txBody>
          <a:bodyPr wrap="square" lIns="0" tIns="0" rIns="0" bIns="0" rtlCol="0" anchor="t"/>
          <a:lstStyle/>
          <a:p>
            <a:pPr marL="0" indent="0" algn="ctr">
              <a:buNone/>
            </a:pPr>
            <a:r>
              <a:rPr lang="en-US" sz="2200" b="1" dirty="0">
                <a:solidFill>
                  <a:srgbClr val="0B2545"/>
                </a:solidFill>
                <a:latin typeface="Georgia" pitchFamily="34" charset="0"/>
                <a:ea typeface="Georgia" pitchFamily="34" charset="-122"/>
                <a:cs typeface="Georgia" pitchFamily="34" charset="-120"/>
              </a:rPr>
              <a:t>0.0694</a:t>
            </a:r>
            <a:endParaRPr lang="en-US" sz="2200" dirty="0"/>
          </a:p>
        </p:txBody>
      </p:sp>
      <p:sp>
        <p:nvSpPr>
          <p:cNvPr id="14" name="Text 11"/>
          <p:cNvSpPr txBox="1"/>
          <p:nvPr/>
        </p:nvSpPr>
        <p:spPr>
          <a:xfrm>
            <a:off x="3931920" y="2011680"/>
            <a:ext cx="1645920" cy="274320"/>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Brier score</a:t>
            </a:r>
            <a:endParaRPr lang="en-US" sz="1200" dirty="0"/>
          </a:p>
        </p:txBody>
      </p:sp>
      <p:sp>
        <p:nvSpPr>
          <p:cNvPr id="15" name="Text 12"/>
          <p:cNvSpPr txBox="1"/>
          <p:nvPr/>
        </p:nvSpPr>
        <p:spPr>
          <a:xfrm>
            <a:off x="457200" y="2468880"/>
            <a:ext cx="512064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AT THRESHOLD 0.080</a:t>
            </a:r>
            <a:endParaRPr lang="en-US" sz="1200" dirty="0"/>
          </a:p>
        </p:txBody>
      </p:sp>
      <p:sp>
        <p:nvSpPr>
          <p:cNvPr id="16" name="Shape 13"/>
          <p:cNvSpPr/>
          <p:nvPr/>
        </p:nvSpPr>
        <p:spPr>
          <a:xfrm>
            <a:off x="457200" y="2743200"/>
            <a:ext cx="1645920" cy="658368"/>
          </a:xfrm>
          <a:prstGeom prst="rect">
            <a:avLst/>
          </a:prstGeom>
          <a:solidFill>
            <a:srgbClr val="FFFFFF"/>
          </a:solidFill>
          <a:ln w="12700">
            <a:solidFill>
              <a:srgbClr val="D5DCE5"/>
            </a:solidFill>
            <a:prstDash val="solid"/>
          </a:ln>
        </p:spPr>
      </p:sp>
      <p:sp>
        <p:nvSpPr>
          <p:cNvPr id="17" name="Text 14"/>
          <p:cNvSpPr txBox="1"/>
          <p:nvPr/>
        </p:nvSpPr>
        <p:spPr>
          <a:xfrm>
            <a:off x="457200" y="2779776"/>
            <a:ext cx="1645920" cy="365760"/>
          </a:xfrm>
          <a:prstGeom prst="rect">
            <a:avLst/>
          </a:prstGeom>
          <a:noFill/>
          <a:ln/>
        </p:spPr>
        <p:txBody>
          <a:bodyPr wrap="square" lIns="0" tIns="0" rIns="0" bIns="0" rtlCol="0" anchor="t"/>
          <a:lstStyle/>
          <a:p>
            <a:pPr marL="0" indent="0" algn="ctr">
              <a:buNone/>
            </a:pPr>
            <a:r>
              <a:rPr lang="en-US" sz="1900" b="1" dirty="0">
                <a:solidFill>
                  <a:srgbClr val="0B2545"/>
                </a:solidFill>
                <a:latin typeface="Georgia" pitchFamily="34" charset="0"/>
                <a:ea typeface="Georgia" pitchFamily="34" charset="-122"/>
                <a:cs typeface="Georgia" pitchFamily="34" charset="-120"/>
              </a:rPr>
              <a:t>83.91%</a:t>
            </a:r>
            <a:endParaRPr lang="en-US" sz="1900" dirty="0"/>
          </a:p>
        </p:txBody>
      </p:sp>
      <p:sp>
        <p:nvSpPr>
          <p:cNvPr id="18" name="Text 15"/>
          <p:cNvSpPr txBox="1"/>
          <p:nvPr/>
        </p:nvSpPr>
        <p:spPr>
          <a:xfrm>
            <a:off x="457200" y="3145536"/>
            <a:ext cx="1645920" cy="237744"/>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Sensitivity</a:t>
            </a:r>
            <a:endParaRPr lang="en-US" sz="1200" dirty="0"/>
          </a:p>
        </p:txBody>
      </p:sp>
      <p:sp>
        <p:nvSpPr>
          <p:cNvPr id="19" name="Shape 16"/>
          <p:cNvSpPr/>
          <p:nvPr/>
        </p:nvSpPr>
        <p:spPr>
          <a:xfrm>
            <a:off x="2194560" y="2743200"/>
            <a:ext cx="1645920" cy="658368"/>
          </a:xfrm>
          <a:prstGeom prst="rect">
            <a:avLst/>
          </a:prstGeom>
          <a:solidFill>
            <a:srgbClr val="FFFFFF"/>
          </a:solidFill>
          <a:ln w="12700">
            <a:solidFill>
              <a:srgbClr val="D5DCE5"/>
            </a:solidFill>
            <a:prstDash val="solid"/>
          </a:ln>
        </p:spPr>
      </p:sp>
      <p:sp>
        <p:nvSpPr>
          <p:cNvPr id="20" name="Text 17"/>
          <p:cNvSpPr txBox="1"/>
          <p:nvPr/>
        </p:nvSpPr>
        <p:spPr>
          <a:xfrm>
            <a:off x="2194560" y="2779776"/>
            <a:ext cx="1645920" cy="365760"/>
          </a:xfrm>
          <a:prstGeom prst="rect">
            <a:avLst/>
          </a:prstGeom>
          <a:noFill/>
          <a:ln/>
        </p:spPr>
        <p:txBody>
          <a:bodyPr wrap="square" lIns="0" tIns="0" rIns="0" bIns="0" rtlCol="0" anchor="t"/>
          <a:lstStyle/>
          <a:p>
            <a:pPr marL="0" indent="0" algn="ctr">
              <a:buNone/>
            </a:pPr>
            <a:r>
              <a:rPr lang="en-US" sz="1900" b="1" dirty="0">
                <a:solidFill>
                  <a:srgbClr val="0B2545"/>
                </a:solidFill>
                <a:latin typeface="Georgia" pitchFamily="34" charset="0"/>
                <a:ea typeface="Georgia" pitchFamily="34" charset="-122"/>
                <a:cs typeface="Georgia" pitchFamily="34" charset="-120"/>
              </a:rPr>
              <a:t>70.45%</a:t>
            </a:r>
            <a:endParaRPr lang="en-US" sz="1900" dirty="0"/>
          </a:p>
        </p:txBody>
      </p:sp>
      <p:sp>
        <p:nvSpPr>
          <p:cNvPr id="21" name="Text 18"/>
          <p:cNvSpPr txBox="1"/>
          <p:nvPr/>
        </p:nvSpPr>
        <p:spPr>
          <a:xfrm>
            <a:off x="2194560" y="3145536"/>
            <a:ext cx="1645920" cy="237744"/>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Specificity</a:t>
            </a:r>
            <a:endParaRPr lang="en-US" sz="1200" dirty="0"/>
          </a:p>
        </p:txBody>
      </p:sp>
      <p:sp>
        <p:nvSpPr>
          <p:cNvPr id="22" name="Shape 19"/>
          <p:cNvSpPr/>
          <p:nvPr/>
        </p:nvSpPr>
        <p:spPr>
          <a:xfrm>
            <a:off x="3931920" y="2743200"/>
            <a:ext cx="1645920" cy="658368"/>
          </a:xfrm>
          <a:prstGeom prst="rect">
            <a:avLst/>
          </a:prstGeom>
          <a:solidFill>
            <a:srgbClr val="FFFFFF"/>
          </a:solidFill>
          <a:ln w="12700">
            <a:solidFill>
              <a:srgbClr val="D5DCE5"/>
            </a:solidFill>
            <a:prstDash val="solid"/>
          </a:ln>
        </p:spPr>
      </p:sp>
      <p:sp>
        <p:nvSpPr>
          <p:cNvPr id="23" name="Text 20"/>
          <p:cNvSpPr txBox="1"/>
          <p:nvPr/>
        </p:nvSpPr>
        <p:spPr>
          <a:xfrm>
            <a:off x="3931920" y="2779776"/>
            <a:ext cx="1645920" cy="365760"/>
          </a:xfrm>
          <a:prstGeom prst="rect">
            <a:avLst/>
          </a:prstGeom>
          <a:noFill/>
          <a:ln/>
        </p:spPr>
        <p:txBody>
          <a:bodyPr wrap="square" lIns="0" tIns="0" rIns="0" bIns="0" rtlCol="0" anchor="t"/>
          <a:lstStyle/>
          <a:p>
            <a:pPr marL="0" indent="0" algn="ctr">
              <a:buNone/>
            </a:pPr>
            <a:r>
              <a:rPr lang="en-US" sz="1900" b="1" dirty="0">
                <a:solidFill>
                  <a:srgbClr val="0B2545"/>
                </a:solidFill>
                <a:latin typeface="Georgia" pitchFamily="34" charset="0"/>
                <a:ea typeface="Georgia" pitchFamily="34" charset="-122"/>
                <a:cs typeface="Georgia" pitchFamily="34" charset="-120"/>
              </a:rPr>
              <a:t>22.67%</a:t>
            </a:r>
            <a:endParaRPr lang="en-US" sz="1900" dirty="0"/>
          </a:p>
        </p:txBody>
      </p:sp>
      <p:sp>
        <p:nvSpPr>
          <p:cNvPr id="24" name="Text 21"/>
          <p:cNvSpPr txBox="1"/>
          <p:nvPr/>
        </p:nvSpPr>
        <p:spPr>
          <a:xfrm>
            <a:off x="3931920" y="3145536"/>
            <a:ext cx="1645920" cy="237744"/>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Precision</a:t>
            </a:r>
            <a:endParaRPr lang="en-US" sz="1200" dirty="0"/>
          </a:p>
        </p:txBody>
      </p:sp>
      <p:sp>
        <p:nvSpPr>
          <p:cNvPr id="25" name="Shape 22"/>
          <p:cNvSpPr/>
          <p:nvPr/>
        </p:nvSpPr>
        <p:spPr>
          <a:xfrm>
            <a:off x="457200" y="3474720"/>
            <a:ext cx="1645920" cy="658368"/>
          </a:xfrm>
          <a:prstGeom prst="rect">
            <a:avLst/>
          </a:prstGeom>
          <a:solidFill>
            <a:srgbClr val="FFFFFF"/>
          </a:solidFill>
          <a:ln w="12700">
            <a:solidFill>
              <a:srgbClr val="D5DCE5"/>
            </a:solidFill>
            <a:prstDash val="solid"/>
          </a:ln>
        </p:spPr>
      </p:sp>
      <p:sp>
        <p:nvSpPr>
          <p:cNvPr id="26" name="Text 23"/>
          <p:cNvSpPr txBox="1"/>
          <p:nvPr/>
        </p:nvSpPr>
        <p:spPr>
          <a:xfrm>
            <a:off x="457200" y="3511296"/>
            <a:ext cx="1645920" cy="365760"/>
          </a:xfrm>
          <a:prstGeom prst="rect">
            <a:avLst/>
          </a:prstGeom>
          <a:noFill/>
          <a:ln/>
        </p:spPr>
        <p:txBody>
          <a:bodyPr wrap="square" lIns="0" tIns="0" rIns="0" bIns="0" rtlCol="0" anchor="t"/>
          <a:lstStyle/>
          <a:p>
            <a:pPr marL="0" indent="0" algn="ctr">
              <a:buNone/>
            </a:pPr>
            <a:r>
              <a:rPr lang="en-US" sz="1900" b="1" dirty="0">
                <a:solidFill>
                  <a:srgbClr val="0B2545"/>
                </a:solidFill>
                <a:latin typeface="Georgia" pitchFamily="34" charset="0"/>
                <a:ea typeface="Georgia" pitchFamily="34" charset="-122"/>
                <a:cs typeface="Georgia" pitchFamily="34" charset="-120"/>
              </a:rPr>
              <a:t>97.69%*</a:t>
            </a:r>
            <a:endParaRPr lang="en-US" sz="1900" dirty="0"/>
          </a:p>
        </p:txBody>
      </p:sp>
      <p:sp>
        <p:nvSpPr>
          <p:cNvPr id="27" name="Text 24"/>
          <p:cNvSpPr txBox="1"/>
          <p:nvPr/>
        </p:nvSpPr>
        <p:spPr>
          <a:xfrm>
            <a:off x="457200" y="3877056"/>
            <a:ext cx="1645920" cy="237744"/>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NPV</a:t>
            </a:r>
            <a:endParaRPr lang="en-US" sz="1200" dirty="0"/>
          </a:p>
        </p:txBody>
      </p:sp>
      <p:sp>
        <p:nvSpPr>
          <p:cNvPr id="28" name="Shape 25"/>
          <p:cNvSpPr/>
          <p:nvPr/>
        </p:nvSpPr>
        <p:spPr>
          <a:xfrm>
            <a:off x="2194560" y="3474720"/>
            <a:ext cx="1645920" cy="658368"/>
          </a:xfrm>
          <a:prstGeom prst="rect">
            <a:avLst/>
          </a:prstGeom>
          <a:solidFill>
            <a:srgbClr val="FFFFFF"/>
          </a:solidFill>
          <a:ln w="12700">
            <a:solidFill>
              <a:srgbClr val="D5DCE5"/>
            </a:solidFill>
            <a:prstDash val="solid"/>
          </a:ln>
        </p:spPr>
      </p:sp>
      <p:sp>
        <p:nvSpPr>
          <p:cNvPr id="29" name="Text 26"/>
          <p:cNvSpPr txBox="1"/>
          <p:nvPr/>
        </p:nvSpPr>
        <p:spPr>
          <a:xfrm>
            <a:off x="2194560" y="3511296"/>
            <a:ext cx="1645920" cy="365760"/>
          </a:xfrm>
          <a:prstGeom prst="rect">
            <a:avLst/>
          </a:prstGeom>
          <a:noFill/>
          <a:ln/>
        </p:spPr>
        <p:txBody>
          <a:bodyPr wrap="square" lIns="0" tIns="0" rIns="0" bIns="0" rtlCol="0" anchor="t"/>
          <a:lstStyle/>
          <a:p>
            <a:pPr marL="0" indent="0" algn="ctr">
              <a:buNone/>
            </a:pPr>
            <a:r>
              <a:rPr lang="en-US" sz="1900" b="1" dirty="0">
                <a:solidFill>
                  <a:srgbClr val="0B2545"/>
                </a:solidFill>
                <a:latin typeface="Georgia" pitchFamily="34" charset="0"/>
                <a:ea typeface="Georgia" pitchFamily="34" charset="-122"/>
                <a:cs typeface="Georgia" pitchFamily="34" charset="-120"/>
              </a:rPr>
              <a:t>0.3569</a:t>
            </a:r>
            <a:endParaRPr lang="en-US" sz="1900" dirty="0"/>
          </a:p>
        </p:txBody>
      </p:sp>
      <p:sp>
        <p:nvSpPr>
          <p:cNvPr id="30" name="Text 27"/>
          <p:cNvSpPr txBox="1"/>
          <p:nvPr/>
        </p:nvSpPr>
        <p:spPr>
          <a:xfrm>
            <a:off x="2194560" y="3877056"/>
            <a:ext cx="1645920" cy="237744"/>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F1-score</a:t>
            </a:r>
            <a:endParaRPr lang="en-US" sz="1200" dirty="0"/>
          </a:p>
        </p:txBody>
      </p:sp>
      <p:sp>
        <p:nvSpPr>
          <p:cNvPr id="31" name="Shape 28"/>
          <p:cNvSpPr/>
          <p:nvPr/>
        </p:nvSpPr>
        <p:spPr>
          <a:xfrm>
            <a:off x="3931920" y="3474720"/>
            <a:ext cx="1645920" cy="658368"/>
          </a:xfrm>
          <a:prstGeom prst="rect">
            <a:avLst/>
          </a:prstGeom>
          <a:solidFill>
            <a:srgbClr val="FFFFFF"/>
          </a:solidFill>
          <a:ln w="12700">
            <a:solidFill>
              <a:srgbClr val="D5DCE5"/>
            </a:solidFill>
            <a:prstDash val="solid"/>
          </a:ln>
        </p:spPr>
      </p:sp>
      <p:sp>
        <p:nvSpPr>
          <p:cNvPr id="32" name="Text 29"/>
          <p:cNvSpPr txBox="1"/>
          <p:nvPr/>
        </p:nvSpPr>
        <p:spPr>
          <a:xfrm>
            <a:off x="3931920" y="3511296"/>
            <a:ext cx="1645920" cy="365760"/>
          </a:xfrm>
          <a:prstGeom prst="rect">
            <a:avLst/>
          </a:prstGeom>
          <a:noFill/>
          <a:ln/>
        </p:spPr>
        <p:txBody>
          <a:bodyPr wrap="square" lIns="0" tIns="0" rIns="0" bIns="0" rtlCol="0" anchor="t"/>
          <a:lstStyle/>
          <a:p>
            <a:pPr marL="0" indent="0" algn="ctr">
              <a:buNone/>
            </a:pPr>
            <a:r>
              <a:rPr lang="en-US" sz="1900" b="1" dirty="0">
                <a:solidFill>
                  <a:srgbClr val="0B2545"/>
                </a:solidFill>
                <a:latin typeface="Georgia" pitchFamily="34" charset="0"/>
                <a:ea typeface="Georgia" pitchFamily="34" charset="-122"/>
                <a:cs typeface="Georgia" pitchFamily="34" charset="-120"/>
              </a:rPr>
              <a:t>77.18%</a:t>
            </a:r>
            <a:endParaRPr lang="en-US" sz="1900" dirty="0"/>
          </a:p>
        </p:txBody>
      </p:sp>
      <p:sp>
        <p:nvSpPr>
          <p:cNvPr id="33" name="Text 30"/>
          <p:cNvSpPr txBox="1"/>
          <p:nvPr/>
        </p:nvSpPr>
        <p:spPr>
          <a:xfrm>
            <a:off x="3931920" y="3877056"/>
            <a:ext cx="1645920" cy="237744"/>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Balanced accuracy</a:t>
            </a:r>
            <a:endParaRPr lang="en-US" sz="1200" dirty="0"/>
          </a:p>
        </p:txBody>
      </p:sp>
      <p:sp>
        <p:nvSpPr>
          <p:cNvPr id="34" name="Text 31"/>
          <p:cNvSpPr txBox="1"/>
          <p:nvPr/>
        </p:nvSpPr>
        <p:spPr>
          <a:xfrm>
            <a:off x="457200" y="4224528"/>
            <a:ext cx="5120640" cy="274320"/>
          </a:xfrm>
          <a:prstGeom prst="rect">
            <a:avLst/>
          </a:prstGeom>
          <a:noFill/>
          <a:ln/>
        </p:spPr>
        <p:txBody>
          <a:bodyPr wrap="square" lIns="0" tIns="0" rIns="0" bIns="0" rtlCol="0" anchor="t"/>
          <a:lstStyle/>
          <a:p>
            <a:pPr marL="0" indent="0">
              <a:buNone/>
            </a:pPr>
            <a:r>
              <a:rPr lang="en-US" sz="1000" dirty="0">
                <a:solidFill>
                  <a:srgbClr val="5A6B7F"/>
                </a:solidFill>
                <a:latin typeface="Calibri" pitchFamily="34" charset="0"/>
                <a:ea typeface="Calibri" pitchFamily="34" charset="-122"/>
                <a:cs typeface="Calibri" pitchFamily="34" charset="-120"/>
              </a:rPr>
              <a:t>Sens. = TP/(TP+FN); spec. = TN/(TN+FP); precision = TP/(TP+FP); NPV = TN/(TN+FN)</a:t>
            </a:r>
            <a:endParaRPr lang="en-US" sz="1000" dirty="0"/>
          </a:p>
        </p:txBody>
      </p:sp>
      <p:sp>
        <p:nvSpPr>
          <p:cNvPr id="35" name="Text 32"/>
          <p:cNvSpPr txBox="1"/>
          <p:nvPr/>
        </p:nvSpPr>
        <p:spPr>
          <a:xfrm>
            <a:off x="5943600" y="1280160"/>
            <a:ext cx="274320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CONFUSION MATRIX</a:t>
            </a:r>
            <a:endParaRPr lang="en-US" sz="1200" dirty="0"/>
          </a:p>
        </p:txBody>
      </p:sp>
      <p:sp>
        <p:nvSpPr>
          <p:cNvPr id="36" name="Text 33"/>
          <p:cNvSpPr txBox="1"/>
          <p:nvPr/>
        </p:nvSpPr>
        <p:spPr>
          <a:xfrm>
            <a:off x="6675120" y="1600200"/>
            <a:ext cx="1005840" cy="228600"/>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Predicted +</a:t>
            </a:r>
            <a:endParaRPr lang="en-US" sz="1200" dirty="0"/>
          </a:p>
        </p:txBody>
      </p:sp>
      <p:sp>
        <p:nvSpPr>
          <p:cNvPr id="37" name="Text 34"/>
          <p:cNvSpPr txBox="1"/>
          <p:nvPr/>
        </p:nvSpPr>
        <p:spPr>
          <a:xfrm>
            <a:off x="7699248" y="1600200"/>
            <a:ext cx="1005840" cy="228600"/>
          </a:xfrm>
          <a:prstGeom prst="rect">
            <a:avLst/>
          </a:prstGeom>
          <a:noFill/>
          <a:ln/>
        </p:spPr>
        <p:txBody>
          <a:bodyPr wrap="square" lIns="0" tIns="0" rIns="0" bIns="0" rtlCol="0" anchor="t"/>
          <a:lstStyle/>
          <a:p>
            <a:pPr marL="0" indent="0" algn="ctr">
              <a:buNone/>
            </a:pPr>
            <a:r>
              <a:rPr lang="en-US" sz="1200" dirty="0">
                <a:solidFill>
                  <a:srgbClr val="5A6B7F"/>
                </a:solidFill>
                <a:latin typeface="Calibri" pitchFamily="34" charset="0"/>
                <a:ea typeface="Calibri" pitchFamily="34" charset="-122"/>
                <a:cs typeface="Calibri" pitchFamily="34" charset="-120"/>
              </a:rPr>
              <a:t>Predicted -</a:t>
            </a:r>
            <a:endParaRPr lang="en-US" sz="1200" dirty="0"/>
          </a:p>
        </p:txBody>
      </p:sp>
      <p:sp>
        <p:nvSpPr>
          <p:cNvPr id="38" name="Text 35"/>
          <p:cNvSpPr txBox="1"/>
          <p:nvPr/>
        </p:nvSpPr>
        <p:spPr>
          <a:xfrm>
            <a:off x="5943600" y="2103120"/>
            <a:ext cx="685800" cy="548640"/>
          </a:xfrm>
          <a:prstGeom prst="rect">
            <a:avLst/>
          </a:prstGeom>
          <a:noFill/>
          <a:ln/>
        </p:spPr>
        <p:txBody>
          <a:bodyPr wrap="square" lIns="0" tIns="0" rIns="0" bIns="0" rtlCol="0" anchor="ctr"/>
          <a:lstStyle/>
          <a:p>
            <a:pPr marL="0" indent="0">
              <a:buNone/>
            </a:pPr>
            <a:r>
              <a:rPr lang="en-US" sz="1200" dirty="0">
                <a:solidFill>
                  <a:srgbClr val="5A6B7F"/>
                </a:solidFill>
                <a:latin typeface="Calibri" pitchFamily="34" charset="0"/>
                <a:ea typeface="Calibri" pitchFamily="34" charset="-122"/>
                <a:cs typeface="Calibri" pitchFamily="34" charset="-120"/>
              </a:rPr>
              <a:t>Actual +</a:t>
            </a:r>
            <a:endParaRPr lang="en-US" sz="1200" dirty="0"/>
          </a:p>
        </p:txBody>
      </p:sp>
      <p:sp>
        <p:nvSpPr>
          <p:cNvPr id="39" name="Text 36"/>
          <p:cNvSpPr txBox="1"/>
          <p:nvPr/>
        </p:nvSpPr>
        <p:spPr>
          <a:xfrm>
            <a:off x="5943600" y="3154680"/>
            <a:ext cx="685800" cy="548640"/>
          </a:xfrm>
          <a:prstGeom prst="rect">
            <a:avLst/>
          </a:prstGeom>
          <a:noFill/>
          <a:ln/>
        </p:spPr>
        <p:txBody>
          <a:bodyPr wrap="square" lIns="0" tIns="0" rIns="0" bIns="0" rtlCol="0" anchor="ctr"/>
          <a:lstStyle/>
          <a:p>
            <a:pPr marL="0" indent="0">
              <a:buNone/>
            </a:pPr>
            <a:r>
              <a:rPr lang="en-US" sz="1200" dirty="0">
                <a:solidFill>
                  <a:srgbClr val="5A6B7F"/>
                </a:solidFill>
                <a:latin typeface="Calibri" pitchFamily="34" charset="0"/>
                <a:ea typeface="Calibri" pitchFamily="34" charset="-122"/>
                <a:cs typeface="Calibri" pitchFamily="34" charset="-120"/>
              </a:rPr>
              <a:t>Actual -</a:t>
            </a:r>
            <a:endParaRPr lang="en-US" sz="1200" dirty="0"/>
          </a:p>
        </p:txBody>
      </p:sp>
      <p:sp>
        <p:nvSpPr>
          <p:cNvPr id="40" name="Shape 37"/>
          <p:cNvSpPr/>
          <p:nvPr/>
        </p:nvSpPr>
        <p:spPr>
          <a:xfrm>
            <a:off x="6675120" y="1828800"/>
            <a:ext cx="987552" cy="1005840"/>
          </a:xfrm>
          <a:prstGeom prst="rect">
            <a:avLst/>
          </a:prstGeom>
          <a:solidFill>
            <a:srgbClr val="3E7C85"/>
          </a:solidFill>
          <a:ln w="12700">
            <a:solidFill>
              <a:srgbClr val="3E7C85"/>
            </a:solidFill>
            <a:prstDash val="solid"/>
          </a:ln>
        </p:spPr>
      </p:sp>
      <p:sp>
        <p:nvSpPr>
          <p:cNvPr id="41" name="Text 38"/>
          <p:cNvSpPr txBox="1"/>
          <p:nvPr/>
        </p:nvSpPr>
        <p:spPr>
          <a:xfrm>
            <a:off x="6675120" y="2011680"/>
            <a:ext cx="987552" cy="365760"/>
          </a:xfrm>
          <a:prstGeom prst="rect">
            <a:avLst/>
          </a:prstGeom>
          <a:noFill/>
          <a:ln/>
        </p:spPr>
        <p:txBody>
          <a:bodyPr wrap="square" lIns="0" tIns="0" rIns="0" bIns="0" rtlCol="0" anchor="t"/>
          <a:lstStyle/>
          <a:p>
            <a:pPr marL="0" indent="0" algn="ctr">
              <a:buNone/>
            </a:pPr>
            <a:r>
              <a:rPr lang="en-US" sz="1600" b="1" dirty="0">
                <a:solidFill>
                  <a:srgbClr val="FFFFFF"/>
                </a:solidFill>
                <a:latin typeface="Georgia" pitchFamily="34" charset="0"/>
                <a:ea typeface="Georgia" pitchFamily="34" charset="-122"/>
                <a:cs typeface="Georgia" pitchFamily="34" charset="-120"/>
              </a:rPr>
              <a:t>5,328</a:t>
            </a:r>
            <a:endParaRPr lang="en-US" sz="1600" dirty="0"/>
          </a:p>
        </p:txBody>
      </p:sp>
      <p:sp>
        <p:nvSpPr>
          <p:cNvPr id="42" name="Text 39"/>
          <p:cNvSpPr txBox="1"/>
          <p:nvPr/>
        </p:nvSpPr>
        <p:spPr>
          <a:xfrm>
            <a:off x="6675120" y="2423160"/>
            <a:ext cx="987552" cy="27432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TP</a:t>
            </a:r>
            <a:endParaRPr lang="en-US" sz="1200" dirty="0"/>
          </a:p>
        </p:txBody>
      </p:sp>
      <p:sp>
        <p:nvSpPr>
          <p:cNvPr id="43" name="Shape 40"/>
          <p:cNvSpPr/>
          <p:nvPr/>
        </p:nvSpPr>
        <p:spPr>
          <a:xfrm>
            <a:off x="7699248" y="1828800"/>
            <a:ext cx="987552" cy="1005840"/>
          </a:xfrm>
          <a:prstGeom prst="rect">
            <a:avLst/>
          </a:prstGeom>
          <a:solidFill>
            <a:srgbClr val="FFFFFF"/>
          </a:solidFill>
          <a:ln w="12700">
            <a:solidFill>
              <a:srgbClr val="D5DCE5"/>
            </a:solidFill>
            <a:prstDash val="solid"/>
          </a:ln>
        </p:spPr>
      </p:sp>
      <p:sp>
        <p:nvSpPr>
          <p:cNvPr id="44" name="Text 41"/>
          <p:cNvSpPr txBox="1"/>
          <p:nvPr/>
        </p:nvSpPr>
        <p:spPr>
          <a:xfrm>
            <a:off x="7699248" y="2011680"/>
            <a:ext cx="987552" cy="365760"/>
          </a:xfrm>
          <a:prstGeom prst="rect">
            <a:avLst/>
          </a:prstGeom>
          <a:noFill/>
          <a:ln/>
        </p:spPr>
        <p:txBody>
          <a:bodyPr wrap="square" lIns="0" tIns="0" rIns="0" bIns="0" rtlCol="0" anchor="t"/>
          <a:lstStyle/>
          <a:p>
            <a:pPr marL="0" indent="0" algn="ctr">
              <a:buNone/>
            </a:pPr>
            <a:r>
              <a:rPr lang="en-US" sz="1600" b="1" dirty="0">
                <a:solidFill>
                  <a:srgbClr val="0B2545"/>
                </a:solidFill>
                <a:latin typeface="Georgia" pitchFamily="34" charset="0"/>
                <a:ea typeface="Georgia" pitchFamily="34" charset="-122"/>
                <a:cs typeface="Georgia" pitchFamily="34" charset="-120"/>
              </a:rPr>
              <a:t>1,022</a:t>
            </a:r>
            <a:endParaRPr lang="en-US" sz="1600" dirty="0"/>
          </a:p>
        </p:txBody>
      </p:sp>
      <p:sp>
        <p:nvSpPr>
          <p:cNvPr id="45" name="Text 42"/>
          <p:cNvSpPr txBox="1"/>
          <p:nvPr/>
        </p:nvSpPr>
        <p:spPr>
          <a:xfrm>
            <a:off x="7699248" y="2423160"/>
            <a:ext cx="987552" cy="274320"/>
          </a:xfrm>
          <a:prstGeom prst="rect">
            <a:avLst/>
          </a:prstGeom>
          <a:noFill/>
          <a:ln/>
        </p:spPr>
        <p:txBody>
          <a:bodyPr wrap="square" lIns="0" tIns="0" rIns="0" bIns="0" rtlCol="0" anchor="t"/>
          <a:lstStyle/>
          <a:p>
            <a:pPr marL="0" indent="0" algn="ctr">
              <a:buNone/>
            </a:pPr>
            <a:r>
              <a:rPr lang="en-US" sz="1200" dirty="0">
                <a:solidFill>
                  <a:srgbClr val="0B2545"/>
                </a:solidFill>
                <a:latin typeface="Calibri" pitchFamily="34" charset="0"/>
                <a:ea typeface="Calibri" pitchFamily="34" charset="-122"/>
                <a:cs typeface="Calibri" pitchFamily="34" charset="-120"/>
              </a:rPr>
              <a:t>FN</a:t>
            </a:r>
            <a:endParaRPr lang="en-US" sz="1200" dirty="0"/>
          </a:p>
        </p:txBody>
      </p:sp>
      <p:sp>
        <p:nvSpPr>
          <p:cNvPr id="46" name="Shape 43"/>
          <p:cNvSpPr/>
          <p:nvPr/>
        </p:nvSpPr>
        <p:spPr>
          <a:xfrm>
            <a:off x="6675120" y="2880360"/>
            <a:ext cx="987552" cy="1005840"/>
          </a:xfrm>
          <a:prstGeom prst="rect">
            <a:avLst/>
          </a:prstGeom>
          <a:solidFill>
            <a:srgbClr val="FFFFFF"/>
          </a:solidFill>
          <a:ln w="12700">
            <a:solidFill>
              <a:srgbClr val="D5DCE5"/>
            </a:solidFill>
            <a:prstDash val="solid"/>
          </a:ln>
        </p:spPr>
      </p:sp>
      <p:sp>
        <p:nvSpPr>
          <p:cNvPr id="47" name="Text 44"/>
          <p:cNvSpPr txBox="1"/>
          <p:nvPr/>
        </p:nvSpPr>
        <p:spPr>
          <a:xfrm>
            <a:off x="6675120" y="3063240"/>
            <a:ext cx="987552" cy="365760"/>
          </a:xfrm>
          <a:prstGeom prst="rect">
            <a:avLst/>
          </a:prstGeom>
          <a:noFill/>
          <a:ln/>
        </p:spPr>
        <p:txBody>
          <a:bodyPr wrap="square" lIns="0" tIns="0" rIns="0" bIns="0" rtlCol="0" anchor="t"/>
          <a:lstStyle/>
          <a:p>
            <a:pPr marL="0" indent="0" algn="ctr">
              <a:buNone/>
            </a:pPr>
            <a:r>
              <a:rPr lang="en-US" sz="1600" b="1" dirty="0">
                <a:solidFill>
                  <a:srgbClr val="0B2545"/>
                </a:solidFill>
                <a:latin typeface="Georgia" pitchFamily="34" charset="0"/>
                <a:ea typeface="Georgia" pitchFamily="34" charset="-122"/>
                <a:cs typeface="Georgia" pitchFamily="34" charset="-120"/>
              </a:rPr>
              <a:t>18,179</a:t>
            </a:r>
            <a:endParaRPr lang="en-US" sz="1600" dirty="0"/>
          </a:p>
        </p:txBody>
      </p:sp>
      <p:sp>
        <p:nvSpPr>
          <p:cNvPr id="48" name="Text 45"/>
          <p:cNvSpPr txBox="1"/>
          <p:nvPr/>
        </p:nvSpPr>
        <p:spPr>
          <a:xfrm>
            <a:off x="6675120" y="3474720"/>
            <a:ext cx="987552" cy="274320"/>
          </a:xfrm>
          <a:prstGeom prst="rect">
            <a:avLst/>
          </a:prstGeom>
          <a:noFill/>
          <a:ln/>
        </p:spPr>
        <p:txBody>
          <a:bodyPr wrap="square" lIns="0" tIns="0" rIns="0" bIns="0" rtlCol="0" anchor="t"/>
          <a:lstStyle/>
          <a:p>
            <a:pPr marL="0" indent="0" algn="ctr">
              <a:buNone/>
            </a:pPr>
            <a:r>
              <a:rPr lang="en-US" sz="1200" dirty="0">
                <a:solidFill>
                  <a:srgbClr val="0B2545"/>
                </a:solidFill>
                <a:latin typeface="Calibri" pitchFamily="34" charset="0"/>
                <a:ea typeface="Calibri" pitchFamily="34" charset="-122"/>
                <a:cs typeface="Calibri" pitchFamily="34" charset="-120"/>
              </a:rPr>
              <a:t>FP</a:t>
            </a:r>
            <a:endParaRPr lang="en-US" sz="1200" dirty="0"/>
          </a:p>
        </p:txBody>
      </p:sp>
      <p:sp>
        <p:nvSpPr>
          <p:cNvPr id="49" name="Shape 46"/>
          <p:cNvSpPr/>
          <p:nvPr/>
        </p:nvSpPr>
        <p:spPr>
          <a:xfrm>
            <a:off x="7699248" y="2880360"/>
            <a:ext cx="987552" cy="1005840"/>
          </a:xfrm>
          <a:prstGeom prst="rect">
            <a:avLst/>
          </a:prstGeom>
          <a:solidFill>
            <a:srgbClr val="0B2545"/>
          </a:solidFill>
          <a:ln w="12700">
            <a:solidFill>
              <a:srgbClr val="0B2545"/>
            </a:solidFill>
            <a:prstDash val="solid"/>
          </a:ln>
        </p:spPr>
      </p:sp>
      <p:sp>
        <p:nvSpPr>
          <p:cNvPr id="50" name="Text 47"/>
          <p:cNvSpPr txBox="1"/>
          <p:nvPr/>
        </p:nvSpPr>
        <p:spPr>
          <a:xfrm>
            <a:off x="7699248" y="3063240"/>
            <a:ext cx="987552" cy="365760"/>
          </a:xfrm>
          <a:prstGeom prst="rect">
            <a:avLst/>
          </a:prstGeom>
          <a:noFill/>
          <a:ln/>
        </p:spPr>
        <p:txBody>
          <a:bodyPr wrap="square" lIns="0" tIns="0" rIns="0" bIns="0" rtlCol="0" anchor="t"/>
          <a:lstStyle/>
          <a:p>
            <a:pPr marL="0" indent="0" algn="ctr">
              <a:buNone/>
            </a:pPr>
            <a:r>
              <a:rPr lang="en-US" sz="1600" b="1" dirty="0">
                <a:solidFill>
                  <a:srgbClr val="FFFFFF"/>
                </a:solidFill>
                <a:latin typeface="Georgia" pitchFamily="34" charset="0"/>
                <a:ea typeface="Georgia" pitchFamily="34" charset="-122"/>
                <a:cs typeface="Georgia" pitchFamily="34" charset="-120"/>
              </a:rPr>
              <a:t>43,341</a:t>
            </a:r>
            <a:endParaRPr lang="en-US" sz="1600" dirty="0"/>
          </a:p>
        </p:txBody>
      </p:sp>
      <p:sp>
        <p:nvSpPr>
          <p:cNvPr id="51" name="Text 48"/>
          <p:cNvSpPr txBox="1"/>
          <p:nvPr/>
        </p:nvSpPr>
        <p:spPr>
          <a:xfrm>
            <a:off x="7699248" y="3474720"/>
            <a:ext cx="987552" cy="27432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TN</a:t>
            </a:r>
            <a:endParaRPr lang="en-US" sz="1200" dirty="0"/>
          </a:p>
        </p:txBody>
      </p:sp>
      <p:sp>
        <p:nvSpPr>
          <p:cNvPr id="52" name="Text 49"/>
          <p:cNvSpPr txBox="1"/>
          <p:nvPr/>
        </p:nvSpPr>
        <p:spPr>
          <a:xfrm>
            <a:off x="5943600" y="3931920"/>
            <a:ext cx="2743200" cy="548640"/>
          </a:xfrm>
          <a:prstGeom prst="rect">
            <a:avLst/>
          </a:prstGeom>
          <a:noFill/>
          <a:ln/>
        </p:spPr>
        <p:txBody>
          <a:bodyPr wrap="square" lIns="0" tIns="0" rIns="0" bIns="0" rtlCol="0" anchor="t"/>
          <a:lstStyle/>
          <a:p>
            <a:pPr marL="0" indent="0">
              <a:buNone/>
            </a:pPr>
            <a:r>
              <a:rPr lang="en-US" sz="1000" dirty="0">
                <a:solidFill>
                  <a:srgbClr val="5A6B7F"/>
                </a:solidFill>
                <a:latin typeface="Calibri" pitchFamily="34" charset="0"/>
                <a:ea typeface="Calibri" pitchFamily="34" charset="-122"/>
                <a:cs typeface="Calibri" pitchFamily="34" charset="-120"/>
              </a:rPr>
              <a:t>Holdout n = 67,870 (6,350 pos., 61,520 neg.). *As reported; counts give 97.70%.</a:t>
            </a:r>
            <a:endParaRPr lang="en-US" sz="1000" dirty="0"/>
          </a:p>
        </p:txBody>
      </p:sp>
      <p:sp>
        <p:nvSpPr>
          <p:cNvPr id="53" name="Text 50"/>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000" i="1" dirty="0">
                <a:solidFill>
                  <a:srgbClr val="5A6B7F"/>
                </a:solidFill>
                <a:latin typeface="Calibri" pitchFamily="34" charset="0"/>
                <a:ea typeface="Calibri" pitchFamily="34" charset="-122"/>
                <a:cs typeface="Calibri" pitchFamily="34" charset="-120"/>
              </a:rPr>
              <a:t>Source: project report, Secs. 8.2-8.3 (final holdout, not used for selection or threshold)</a:t>
            </a:r>
            <a:endParaRPr lang="en-US" sz="1000" dirty="0"/>
          </a:p>
        </p:txBody>
      </p:sp>
      <p:sp>
        <p:nvSpPr>
          <p:cNvPr id="4"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Age Has the Largest Measured Importance in the Fitted Model</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graphicFrame>
        <p:nvGraphicFramePr>
          <p:cNvPr id="5" name="Chart 0"/>
          <p:cNvGraphicFramePr/>
          <p:nvPr/>
        </p:nvGraphicFramePr>
        <p:xfrm>
          <a:off x="365760" y="1234440"/>
          <a:ext cx="56692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6309360" y="1325880"/>
            <a:ext cx="2377440" cy="457200"/>
          </a:xfrm>
          <a:prstGeom prst="rect">
            <a:avLst/>
          </a:prstGeom>
          <a:noFill/>
          <a:ln/>
        </p:spPr>
        <p:txBody>
          <a:bodyPr wrap="square" lIns="0" tIns="0" rIns="0" bIns="0" rtlCol="0" anchor="t"/>
          <a:lstStyle/>
          <a:p>
            <a:pPr marL="0" indent="0">
              <a:buNone/>
            </a:pPr>
            <a:r>
              <a:rPr lang="en-US" sz="2600" b="1" dirty="0">
                <a:solidFill>
                  <a:srgbClr val="3E7C85"/>
                </a:solidFill>
                <a:latin typeface="Georgia" pitchFamily="34" charset="0"/>
                <a:ea typeface="Georgia" pitchFamily="34" charset="-122"/>
                <a:cs typeface="Georgia" pitchFamily="34" charset="-120"/>
              </a:rPr>
              <a:t>0.0772</a:t>
            </a:r>
            <a:endParaRPr lang="en-US" sz="2600" dirty="0"/>
          </a:p>
        </p:txBody>
      </p:sp>
      <p:sp>
        <p:nvSpPr>
          <p:cNvPr id="7" name="Text 3"/>
          <p:cNvSpPr txBox="1"/>
          <p:nvPr/>
        </p:nvSpPr>
        <p:spPr>
          <a:xfrm>
            <a:off x="6309360" y="1783080"/>
            <a:ext cx="2377440" cy="274320"/>
          </a:xfrm>
          <a:prstGeom prst="rect">
            <a:avLst/>
          </a:prstGeom>
          <a:noFill/>
          <a:ln/>
        </p:spPr>
        <p:txBody>
          <a:bodyPr wrap="square" lIns="0" tIns="0" rIns="0" bIns="0" rtlCol="0" anchor="t"/>
          <a:lstStyle/>
          <a:p>
            <a:pPr marL="0" indent="0">
              <a:buNone/>
            </a:pPr>
            <a:r>
              <a:rPr lang="en-US" sz="1200" dirty="0">
                <a:solidFill>
                  <a:srgbClr val="5A6B7F"/>
                </a:solidFill>
                <a:latin typeface="Calibri" pitchFamily="34" charset="0"/>
                <a:ea typeface="Calibri" pitchFamily="34" charset="-122"/>
                <a:cs typeface="Calibri" pitchFamily="34" charset="-120"/>
              </a:rPr>
              <a:t>_AGE80: mean PR-AUC decrease</a:t>
            </a:r>
            <a:endParaRPr lang="en-US" sz="1200" dirty="0"/>
          </a:p>
        </p:txBody>
      </p:sp>
      <p:sp>
        <p:nvSpPr>
          <p:cNvPr id="8" name="Shape 4"/>
          <p:cNvSpPr/>
          <p:nvPr/>
        </p:nvSpPr>
        <p:spPr>
          <a:xfrm>
            <a:off x="6309360" y="2331720"/>
            <a:ext cx="2377440" cy="2057400"/>
          </a:xfrm>
          <a:prstGeom prst="rect">
            <a:avLst/>
          </a:prstGeom>
          <a:solidFill>
            <a:srgbClr val="E4EFF0"/>
          </a:solidFill>
          <a:ln w="12700">
            <a:solidFill>
              <a:srgbClr val="E4EFF0"/>
            </a:solidFill>
            <a:prstDash val="solid"/>
          </a:ln>
        </p:spPr>
      </p:sp>
      <p:sp>
        <p:nvSpPr>
          <p:cNvPr id="9" name="Text 5"/>
          <p:cNvSpPr txBox="1"/>
          <p:nvPr/>
        </p:nvSpPr>
        <p:spPr>
          <a:xfrm>
            <a:off x="6446520" y="2423160"/>
            <a:ext cx="2103120" cy="192024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How to read</a:t>
            </a:r>
            <a:endParaRPr lang="en-US" sz="1400" dirty="0"/>
          </a:p>
          <a:p>
            <a:pPr marL="0" indent="0">
              <a:buNone/>
            </a:pPr>
            <a:r>
              <a:rPr lang="en-US" sz="1200" dirty="0">
                <a:solidFill>
                  <a:srgbClr val="0B2545"/>
                </a:solidFill>
                <a:latin typeface="Calibri" pitchFamily="34" charset="0"/>
                <a:ea typeface="Calibri" pitchFamily="34" charset="-122"/>
                <a:cs typeface="Calibri" pitchFamily="34" charset="-120"/>
              </a:rPr>
              <a:t>Larger drop = the fitted model relies more on that variable.</a:t>
            </a:r>
            <a:endParaRPr lang="en-US" sz="1400" dirty="0"/>
          </a:p>
          <a:p>
            <a:pPr marL="0" indent="0">
              <a:buNone/>
            </a:pPr>
            <a:r>
              <a:rPr lang="en-US" sz="500" dirty="0">
                <a:solidFill>
                  <a:srgbClr val="0B2545"/>
                </a:solidFill>
                <a:latin typeface="Calibri" pitchFamily="34" charset="0"/>
                <a:ea typeface="Calibri" pitchFamily="34" charset="-122"/>
                <a:cs typeface="Calibri" pitchFamily="34" charset="-120"/>
              </a:rPr>
              <a:t> </a:t>
            </a:r>
            <a:endParaRPr lang="en-US" sz="1400" dirty="0"/>
          </a:p>
          <a:p>
            <a:pPr marL="0" indent="0">
              <a:buNone/>
            </a:pPr>
            <a:r>
              <a:rPr lang="en-US" sz="1200" dirty="0">
                <a:solidFill>
                  <a:srgbClr val="0B2545"/>
                </a:solidFill>
                <a:latin typeface="Calibri" pitchFamily="34" charset="0"/>
                <a:ea typeface="Calibri" pitchFamily="34" charset="-122"/>
                <a:cs typeface="Calibri" pitchFamily="34" charset="-120"/>
              </a:rPr>
              <a:t>Model reliance, not causal proof.</a:t>
            </a:r>
            <a:endParaRPr lang="en-US" sz="1400" dirty="0"/>
          </a:p>
        </p:txBody>
      </p:sp>
      <p:sp>
        <p:nvSpPr>
          <p:cNvPr id="10" name="Text 6"/>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000" i="1" dirty="0">
                <a:solidFill>
                  <a:srgbClr val="5A6B7F"/>
                </a:solidFill>
                <a:latin typeface="Calibri" pitchFamily="34" charset="0"/>
                <a:ea typeface="Calibri" pitchFamily="34" charset="-122"/>
                <a:cs typeface="Calibri" pitchFamily="34" charset="-120"/>
              </a:rPr>
              <a:t>Source: project report, Sec. 9.1 (validation set, 10 repeats)</a:t>
            </a:r>
            <a:endParaRPr lang="en-US" sz="10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Partial Dependence and Local Explanations Describe Model Behavior</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Shape 2"/>
          <p:cNvSpPr/>
          <p:nvPr/>
        </p:nvSpPr>
        <p:spPr>
          <a:xfrm>
            <a:off x="457200" y="1280160"/>
            <a:ext cx="8229600" cy="2340864"/>
          </a:xfrm>
          <a:prstGeom prst="rect">
            <a:avLst/>
          </a:prstGeom>
          <a:solidFill>
            <a:srgbClr val="FFFFFF"/>
          </a:solidFill>
          <a:ln w="12700">
            <a:solidFill>
              <a:srgbClr val="D5DCE5"/>
            </a:solidFill>
            <a:prstDash val="solid"/>
          </a:ln>
        </p:spPr>
      </p:sp>
      <p:pic>
        <p:nvPicPr>
          <p:cNvPr id="6" name="Image 0" descr="pdpAll.png"/>
          <p:cNvPicPr>
            <a:picLocks noChangeAspect="1"/>
          </p:cNvPicPr>
          <p:nvPr/>
        </p:nvPicPr>
        <p:blipFill>
          <a:blip r:embed="rId3"/>
          <a:srcRect/>
          <a:stretch/>
        </p:blipFill>
        <p:spPr>
          <a:xfrm>
            <a:off x="502920" y="1307592"/>
            <a:ext cx="8138160" cy="2286000"/>
          </a:xfrm>
          <a:prstGeom prst="rect">
            <a:avLst/>
          </a:prstGeom>
        </p:spPr>
      </p:pic>
      <p:sp>
        <p:nvSpPr>
          <p:cNvPr id="7" name="Shape 3"/>
          <p:cNvSpPr/>
          <p:nvPr/>
        </p:nvSpPr>
        <p:spPr>
          <a:xfrm>
            <a:off x="457200" y="3703320"/>
            <a:ext cx="4023360" cy="731520"/>
          </a:xfrm>
          <a:prstGeom prst="rect">
            <a:avLst/>
          </a:prstGeom>
          <a:solidFill>
            <a:srgbClr val="E4EFF0"/>
          </a:solidFill>
          <a:ln w="12700">
            <a:solidFill>
              <a:srgbClr val="E4EFF0"/>
            </a:solidFill>
            <a:prstDash val="solid"/>
          </a:ln>
        </p:spPr>
      </p:sp>
      <p:sp>
        <p:nvSpPr>
          <p:cNvPr id="8" name="Text 4"/>
          <p:cNvSpPr txBox="1"/>
          <p:nvPr/>
        </p:nvSpPr>
        <p:spPr>
          <a:xfrm>
            <a:off x="566928" y="3703320"/>
            <a:ext cx="3840480" cy="731520"/>
          </a:xfrm>
          <a:prstGeom prst="rect">
            <a:avLst/>
          </a:prstGeom>
          <a:noFill/>
          <a:ln/>
        </p:spPr>
        <p:txBody>
          <a:bodyPr wrap="square" lIns="0" tIns="0" rIns="0" bIns="0" rtlCol="0" anchor="ctr"/>
          <a:lstStyle/>
          <a:p>
            <a:pPr marL="0" indent="0">
              <a:buNone/>
            </a:pPr>
            <a:r>
              <a:rPr lang="en-US" sz="1100" dirty="0">
                <a:solidFill>
                  <a:srgbClr val="0B2545"/>
                </a:solidFill>
                <a:latin typeface="Calibri" pitchFamily="34" charset="0"/>
                <a:ea typeface="Calibri" pitchFamily="34" charset="-122"/>
                <a:cs typeface="Calibri" pitchFamily="34" charset="-120"/>
              </a:rPr>
              <a:t>Age panel, read from the plot: crosses 0.080 near age 30-31; about 0.62 at age 80 (approximate).</a:t>
            </a:r>
            <a:endParaRPr lang="en-US" sz="1100" dirty="0"/>
          </a:p>
        </p:txBody>
      </p:sp>
      <p:sp>
        <p:nvSpPr>
          <p:cNvPr id="11" name="Text 7"/>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000" i="1" dirty="0">
                <a:solidFill>
                  <a:srgbClr val="5A6B7F"/>
                </a:solidFill>
                <a:latin typeface="Calibri" pitchFamily="34" charset="0"/>
                <a:ea typeface="Calibri" pitchFamily="34" charset="-122"/>
                <a:cs typeface="Calibri" pitchFamily="34" charset="-120"/>
              </a:rPr>
              <a:t>Source: project report, Fig. 18 (validation set). Local explanations (Fig. 19): marginal perturbation, Ridge surrogate R-squared &gt; 0.93.</a:t>
            </a:r>
            <a:endParaRPr lang="en-US" sz="10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Dashboard: Initial Implementation Documented; Final Verification Open</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Text 2"/>
          <p:cNvSpPr txBox="1"/>
          <p:nvPr/>
        </p:nvSpPr>
        <p:spPr>
          <a:xfrm>
            <a:off x="457200" y="1280160"/>
            <a:ext cx="3383280" cy="274320"/>
          </a:xfrm>
          <a:prstGeom prst="rect">
            <a:avLst/>
          </a:prstGeom>
          <a:noFill/>
          <a:ln/>
        </p:spPr>
        <p:txBody>
          <a:bodyPr wrap="square" lIns="0" tIns="0" rIns="0" bIns="0" rtlCol="0" anchor="t"/>
          <a:lstStyle/>
          <a:p>
            <a:pPr marL="0" indent="0">
              <a:buNone/>
            </a:pPr>
            <a:r>
              <a:rPr lang="en-US" sz="1200" b="1" kern="0" spc="100" dirty="0">
                <a:solidFill>
                  <a:srgbClr val="3E7C85"/>
                </a:solidFill>
                <a:latin typeface="Calibri" pitchFamily="34" charset="0"/>
                <a:ea typeface="Calibri" pitchFamily="34" charset="-122"/>
                <a:cs typeface="Calibri" pitchFamily="34" charset="-120"/>
              </a:rPr>
              <a:t>DOCUMENTED IN THE PROJECT REPORT</a:t>
            </a:r>
            <a:endParaRPr lang="en-US" sz="1200" dirty="0"/>
          </a:p>
        </p:txBody>
      </p:sp>
      <p:sp>
        <p:nvSpPr>
          <p:cNvPr id="6" name="Text 3"/>
          <p:cNvSpPr txBox="1"/>
          <p:nvPr/>
        </p:nvSpPr>
        <p:spPr>
          <a:xfrm>
            <a:off x="457200" y="1600200"/>
            <a:ext cx="3383280" cy="1645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0B2545"/>
                </a:solidFill>
                <a:latin typeface="Calibri" pitchFamily="34" charset="0"/>
                <a:ea typeface="Calibri" pitchFamily="34" charset="-122"/>
                <a:cs typeface="Calibri" pitchFamily="34" charset="-120"/>
              </a:rPr>
              <a:t>Single-page application</a:t>
            </a:r>
            <a:endParaRPr lang="en-US" sz="1250" dirty="0"/>
          </a:p>
          <a:p>
            <a:pPr marL="342900" indent="-342900">
              <a:spcAft>
                <a:spcPts val="400"/>
              </a:spcAft>
              <a:buSzPct val="100000"/>
              <a:buChar char="•"/>
            </a:pPr>
            <a:r>
              <a:rPr lang="en-US" sz="1250" dirty="0">
                <a:solidFill>
                  <a:srgbClr val="0B2545"/>
                </a:solidFill>
                <a:latin typeface="Calibri" pitchFamily="34" charset="0"/>
                <a:ea typeface="Calibri" pitchFamily="34" charset="-122"/>
                <a:cs typeface="Calibri" pitchFamily="34" charset="-120"/>
              </a:rPr>
              <a:t>Precomputed JSON, about 172 KB</a:t>
            </a:r>
            <a:endParaRPr lang="en-US" sz="1250" dirty="0"/>
          </a:p>
          <a:p>
            <a:pPr marL="342900" indent="-342900">
              <a:spcAft>
                <a:spcPts val="400"/>
              </a:spcAft>
              <a:buSzPct val="100000"/>
              <a:buChar char="•"/>
            </a:pPr>
            <a:r>
              <a:rPr lang="en-US" sz="1250" dirty="0">
                <a:solidFill>
                  <a:srgbClr val="0B2545"/>
                </a:solidFill>
                <a:latin typeface="Calibri" pitchFamily="34" charset="0"/>
                <a:ea typeface="Calibri" pitchFamily="34" charset="-122"/>
                <a:cs typeface="Calibri" pitchFamily="34" charset="-120"/>
              </a:rPr>
              <a:t>HTML5, CSS3, JavaScript, Plotly.js</a:t>
            </a:r>
            <a:endParaRPr lang="en-US" sz="1250" dirty="0"/>
          </a:p>
          <a:p>
            <a:pPr marL="342900" indent="-342900">
              <a:spcAft>
                <a:spcPts val="400"/>
              </a:spcAft>
              <a:buSzPct val="100000"/>
              <a:buChar char="•"/>
            </a:pPr>
            <a:r>
              <a:rPr lang="en-US" sz="1250" dirty="0">
                <a:solidFill>
                  <a:srgbClr val="0B2545"/>
                </a:solidFill>
                <a:latin typeface="Calibri" pitchFamily="34" charset="0"/>
                <a:ea typeface="Calibri" pitchFamily="34" charset="-122"/>
                <a:cs typeface="Calibri" pitchFamily="34" charset="-120"/>
              </a:rPr>
              <a:t>Explorer: 12 health variables</a:t>
            </a:r>
            <a:endParaRPr lang="en-US" sz="1250" dirty="0"/>
          </a:p>
        </p:txBody>
      </p:sp>
      <p:sp>
        <p:nvSpPr>
          <p:cNvPr id="9" name="Shape 6"/>
          <p:cNvSpPr/>
          <p:nvPr/>
        </p:nvSpPr>
        <p:spPr>
          <a:xfrm>
            <a:off x="4114800" y="1280160"/>
            <a:ext cx="4572000" cy="2743200"/>
          </a:xfrm>
          <a:prstGeom prst="rect">
            <a:avLst/>
          </a:prstGeom>
          <a:solidFill>
            <a:srgbClr val="FFFFFF"/>
          </a:solidFill>
          <a:ln w="12700">
            <a:solidFill>
              <a:srgbClr val="5A6B7F"/>
            </a:solidFill>
            <a:prstDash val="dash"/>
          </a:ln>
        </p:spPr>
      </p:sp>
      <p:sp>
        <p:nvSpPr>
          <p:cNvPr id="10" name="Shape 7"/>
          <p:cNvSpPr/>
          <p:nvPr/>
        </p:nvSpPr>
        <p:spPr>
          <a:xfrm>
            <a:off x="4251960" y="1417320"/>
            <a:ext cx="2103120" cy="749808"/>
          </a:xfrm>
          <a:prstGeom prst="rect">
            <a:avLst/>
          </a:prstGeom>
          <a:solidFill>
            <a:srgbClr val="FFFFFF"/>
          </a:solidFill>
          <a:ln w="15875">
            <a:solidFill>
              <a:srgbClr val="3E7C85"/>
            </a:solidFill>
            <a:prstDash val="dash"/>
          </a:ln>
        </p:spPr>
      </p:sp>
      <p:sp>
        <p:nvSpPr>
          <p:cNvPr id="11" name="Text 8"/>
          <p:cNvSpPr txBox="1"/>
          <p:nvPr/>
        </p:nvSpPr>
        <p:spPr>
          <a:xfrm>
            <a:off x="4343400" y="1481328"/>
            <a:ext cx="1920240" cy="27432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Population Health Explorer</a:t>
            </a:r>
            <a:endParaRPr lang="en-US" sz="1200" dirty="0"/>
          </a:p>
        </p:txBody>
      </p:sp>
      <p:sp>
        <p:nvSpPr>
          <p:cNvPr id="12" name="Text 9"/>
          <p:cNvSpPr txBox="1"/>
          <p:nvPr/>
        </p:nvSpPr>
        <p:spPr>
          <a:xfrm>
            <a:off x="4343400" y="1801368"/>
            <a:ext cx="1920240" cy="274320"/>
          </a:xfrm>
          <a:prstGeom prst="rect">
            <a:avLst/>
          </a:prstGeom>
          <a:noFill/>
          <a:ln/>
        </p:spPr>
        <p:txBody>
          <a:bodyPr wrap="square" lIns="0" tIns="0" rIns="0" bIns="0" rtlCol="0" anchor="t"/>
          <a:lstStyle/>
          <a:p>
            <a:pPr marL="0" indent="0">
              <a:buNone/>
            </a:pPr>
            <a:r>
              <a:rPr lang="en-US" sz="1050" dirty="0">
                <a:solidFill>
                  <a:srgbClr val="5A6B7F"/>
                </a:solidFill>
                <a:latin typeface="Calibri" pitchFamily="34" charset="0"/>
                <a:ea typeface="Calibri" pitchFamily="34" charset="-122"/>
                <a:cs typeface="Calibri" pitchFamily="34" charset="-120"/>
              </a:rPr>
              <a:t>Counts, weighted %</a:t>
            </a:r>
            <a:endParaRPr lang="en-US" sz="1050" dirty="0"/>
          </a:p>
        </p:txBody>
      </p:sp>
      <p:sp>
        <p:nvSpPr>
          <p:cNvPr id="13" name="Shape 10"/>
          <p:cNvSpPr/>
          <p:nvPr/>
        </p:nvSpPr>
        <p:spPr>
          <a:xfrm>
            <a:off x="6446520" y="1417320"/>
            <a:ext cx="2103120" cy="749808"/>
          </a:xfrm>
          <a:prstGeom prst="rect">
            <a:avLst/>
          </a:prstGeom>
          <a:solidFill>
            <a:srgbClr val="FFFFFF"/>
          </a:solidFill>
          <a:ln w="15875">
            <a:solidFill>
              <a:srgbClr val="3E7C85"/>
            </a:solidFill>
            <a:prstDash val="dash"/>
          </a:ln>
        </p:spPr>
      </p:sp>
      <p:sp>
        <p:nvSpPr>
          <p:cNvPr id="14" name="Text 11"/>
          <p:cNvSpPr txBox="1"/>
          <p:nvPr/>
        </p:nvSpPr>
        <p:spPr>
          <a:xfrm>
            <a:off x="6537960" y="1481328"/>
            <a:ext cx="1920240" cy="27432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Statistical Findings</a:t>
            </a:r>
            <a:endParaRPr lang="en-US" sz="1200" dirty="0"/>
          </a:p>
        </p:txBody>
      </p:sp>
      <p:sp>
        <p:nvSpPr>
          <p:cNvPr id="15" name="Text 12"/>
          <p:cNvSpPr txBox="1"/>
          <p:nvPr/>
        </p:nvSpPr>
        <p:spPr>
          <a:xfrm>
            <a:off x="6537960" y="1801368"/>
            <a:ext cx="1920240" cy="274320"/>
          </a:xfrm>
          <a:prstGeom prst="rect">
            <a:avLst/>
          </a:prstGeom>
          <a:noFill/>
          <a:ln/>
        </p:spPr>
        <p:txBody>
          <a:bodyPr wrap="square" lIns="0" tIns="0" rIns="0" bIns="0" rtlCol="0" anchor="t"/>
          <a:lstStyle/>
          <a:p>
            <a:pPr marL="0" indent="0">
              <a:buNone/>
            </a:pPr>
            <a:r>
              <a:rPr lang="en-US" sz="1050" dirty="0">
                <a:solidFill>
                  <a:srgbClr val="5A6B7F"/>
                </a:solidFill>
                <a:latin typeface="Calibri" pitchFamily="34" charset="0"/>
                <a:ea typeface="Calibri" pitchFamily="34" charset="-122"/>
                <a:cs typeface="Calibri" pitchFamily="34" charset="-120"/>
              </a:rPr>
              <a:t>Prevalence, odds ratios</a:t>
            </a:r>
            <a:endParaRPr lang="en-US" sz="1050" dirty="0"/>
          </a:p>
        </p:txBody>
      </p:sp>
      <p:sp>
        <p:nvSpPr>
          <p:cNvPr id="16" name="Shape 13"/>
          <p:cNvSpPr/>
          <p:nvPr/>
        </p:nvSpPr>
        <p:spPr>
          <a:xfrm>
            <a:off x="4251960" y="2258568"/>
            <a:ext cx="2103120" cy="749808"/>
          </a:xfrm>
          <a:prstGeom prst="rect">
            <a:avLst/>
          </a:prstGeom>
          <a:solidFill>
            <a:srgbClr val="FFFFFF"/>
          </a:solidFill>
          <a:ln w="15875">
            <a:solidFill>
              <a:srgbClr val="3E7C85"/>
            </a:solidFill>
            <a:prstDash val="dash"/>
          </a:ln>
        </p:spPr>
      </p:sp>
      <p:sp>
        <p:nvSpPr>
          <p:cNvPr id="17" name="Text 14"/>
          <p:cNvSpPr txBox="1"/>
          <p:nvPr/>
        </p:nvSpPr>
        <p:spPr>
          <a:xfrm>
            <a:off x="4343400" y="2322576"/>
            <a:ext cx="1920240" cy="27432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Model Performance</a:t>
            </a:r>
            <a:endParaRPr lang="en-US" sz="1200" dirty="0"/>
          </a:p>
        </p:txBody>
      </p:sp>
      <p:sp>
        <p:nvSpPr>
          <p:cNvPr id="18" name="Text 15"/>
          <p:cNvSpPr txBox="1"/>
          <p:nvPr/>
        </p:nvSpPr>
        <p:spPr>
          <a:xfrm>
            <a:off x="4343400" y="2642616"/>
            <a:ext cx="1920240" cy="274320"/>
          </a:xfrm>
          <a:prstGeom prst="rect">
            <a:avLst/>
          </a:prstGeom>
          <a:noFill/>
          <a:ln/>
        </p:spPr>
        <p:txBody>
          <a:bodyPr wrap="square" lIns="0" tIns="0" rIns="0" bIns="0" rtlCol="0" anchor="t"/>
          <a:lstStyle/>
          <a:p>
            <a:pPr marL="0" indent="0">
              <a:buNone/>
            </a:pPr>
            <a:r>
              <a:rPr lang="en-US" sz="1050" dirty="0">
                <a:solidFill>
                  <a:srgbClr val="5A6B7F"/>
                </a:solidFill>
                <a:latin typeface="Calibri" pitchFamily="34" charset="0"/>
                <a:ea typeface="Calibri" pitchFamily="34" charset="-122"/>
                <a:cs typeface="Calibri" pitchFamily="34" charset="-120"/>
              </a:rPr>
              <a:t>ROC, PR, calibration</a:t>
            </a:r>
            <a:endParaRPr lang="en-US" sz="1050" dirty="0"/>
          </a:p>
        </p:txBody>
      </p:sp>
      <p:sp>
        <p:nvSpPr>
          <p:cNvPr id="19" name="Shape 16"/>
          <p:cNvSpPr/>
          <p:nvPr/>
        </p:nvSpPr>
        <p:spPr>
          <a:xfrm>
            <a:off x="6446520" y="2258568"/>
            <a:ext cx="2103120" cy="749808"/>
          </a:xfrm>
          <a:prstGeom prst="rect">
            <a:avLst/>
          </a:prstGeom>
          <a:solidFill>
            <a:srgbClr val="FFFFFF"/>
          </a:solidFill>
          <a:ln w="15875">
            <a:solidFill>
              <a:srgbClr val="3E7C85"/>
            </a:solidFill>
            <a:prstDash val="dash"/>
          </a:ln>
        </p:spPr>
      </p:sp>
      <p:sp>
        <p:nvSpPr>
          <p:cNvPr id="20" name="Text 17"/>
          <p:cNvSpPr txBox="1"/>
          <p:nvPr/>
        </p:nvSpPr>
        <p:spPr>
          <a:xfrm>
            <a:off x="6537960" y="2322576"/>
            <a:ext cx="1920240" cy="27432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Threshold Analysis</a:t>
            </a:r>
            <a:endParaRPr lang="en-US" sz="1200" dirty="0"/>
          </a:p>
        </p:txBody>
      </p:sp>
      <p:sp>
        <p:nvSpPr>
          <p:cNvPr id="21" name="Text 18"/>
          <p:cNvSpPr txBox="1"/>
          <p:nvPr/>
        </p:nvSpPr>
        <p:spPr>
          <a:xfrm>
            <a:off x="6537960" y="2642616"/>
            <a:ext cx="1920240" cy="274320"/>
          </a:xfrm>
          <a:prstGeom prst="rect">
            <a:avLst/>
          </a:prstGeom>
          <a:noFill/>
          <a:ln/>
        </p:spPr>
        <p:txBody>
          <a:bodyPr wrap="square" lIns="0" tIns="0" rIns="0" bIns="0" rtlCol="0" anchor="t"/>
          <a:lstStyle/>
          <a:p>
            <a:pPr marL="0" indent="0">
              <a:buNone/>
            </a:pPr>
            <a:r>
              <a:rPr lang="en-US" sz="1050" dirty="0">
                <a:solidFill>
                  <a:srgbClr val="5A6B7F"/>
                </a:solidFill>
                <a:latin typeface="Calibri" pitchFamily="34" charset="0"/>
                <a:ea typeface="Calibri" pitchFamily="34" charset="-122"/>
                <a:cs typeface="Calibri" pitchFamily="34" charset="-120"/>
              </a:rPr>
              <a:t>Confusion matrix, 0.080</a:t>
            </a:r>
            <a:endParaRPr lang="en-US" sz="1050" dirty="0"/>
          </a:p>
        </p:txBody>
      </p:sp>
      <p:sp>
        <p:nvSpPr>
          <p:cNvPr id="22" name="Shape 19"/>
          <p:cNvSpPr/>
          <p:nvPr/>
        </p:nvSpPr>
        <p:spPr>
          <a:xfrm>
            <a:off x="4251960" y="3099816"/>
            <a:ext cx="2103120" cy="749808"/>
          </a:xfrm>
          <a:prstGeom prst="rect">
            <a:avLst/>
          </a:prstGeom>
          <a:solidFill>
            <a:srgbClr val="FFFFFF"/>
          </a:solidFill>
          <a:ln w="15875">
            <a:solidFill>
              <a:srgbClr val="3E7C85"/>
            </a:solidFill>
            <a:prstDash val="dash"/>
          </a:ln>
        </p:spPr>
      </p:sp>
      <p:sp>
        <p:nvSpPr>
          <p:cNvPr id="23" name="Text 20"/>
          <p:cNvSpPr txBox="1"/>
          <p:nvPr/>
        </p:nvSpPr>
        <p:spPr>
          <a:xfrm>
            <a:off x="4343400" y="3163824"/>
            <a:ext cx="1920240" cy="27432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Explainable AI</a:t>
            </a:r>
            <a:endParaRPr lang="en-US" sz="1200" dirty="0"/>
          </a:p>
        </p:txBody>
      </p:sp>
      <p:sp>
        <p:nvSpPr>
          <p:cNvPr id="24" name="Text 21"/>
          <p:cNvSpPr txBox="1"/>
          <p:nvPr/>
        </p:nvSpPr>
        <p:spPr>
          <a:xfrm>
            <a:off x="4343400" y="3483864"/>
            <a:ext cx="1920240" cy="274320"/>
          </a:xfrm>
          <a:prstGeom prst="rect">
            <a:avLst/>
          </a:prstGeom>
          <a:noFill/>
          <a:ln/>
        </p:spPr>
        <p:txBody>
          <a:bodyPr wrap="square" lIns="0" tIns="0" rIns="0" bIns="0" rtlCol="0" anchor="t"/>
          <a:lstStyle/>
          <a:p>
            <a:pPr marL="0" indent="0">
              <a:buNone/>
            </a:pPr>
            <a:r>
              <a:rPr lang="en-US" sz="1050" dirty="0">
                <a:solidFill>
                  <a:srgbClr val="5A6B7F"/>
                </a:solidFill>
                <a:latin typeface="Calibri" pitchFamily="34" charset="0"/>
                <a:ea typeface="Calibri" pitchFamily="34" charset="-122"/>
                <a:cs typeface="Calibri" pitchFamily="34" charset="-120"/>
              </a:rPr>
              <a:t>Importance, PDP, local</a:t>
            </a:r>
            <a:endParaRPr lang="en-US" sz="1050" dirty="0"/>
          </a:p>
        </p:txBody>
      </p:sp>
      <p:sp>
        <p:nvSpPr>
          <p:cNvPr id="25" name="Shape 22"/>
          <p:cNvSpPr/>
          <p:nvPr/>
        </p:nvSpPr>
        <p:spPr>
          <a:xfrm>
            <a:off x="6446520" y="3099816"/>
            <a:ext cx="2103120" cy="749808"/>
          </a:xfrm>
          <a:prstGeom prst="rect">
            <a:avLst/>
          </a:prstGeom>
          <a:solidFill>
            <a:srgbClr val="FFFFFF"/>
          </a:solidFill>
          <a:ln w="15875">
            <a:solidFill>
              <a:srgbClr val="3E7C85"/>
            </a:solidFill>
            <a:prstDash val="dash"/>
          </a:ln>
        </p:spPr>
      </p:sp>
      <p:sp>
        <p:nvSpPr>
          <p:cNvPr id="26" name="Text 23"/>
          <p:cNvSpPr txBox="1"/>
          <p:nvPr/>
        </p:nvSpPr>
        <p:spPr>
          <a:xfrm>
            <a:off x="6537960" y="3163824"/>
            <a:ext cx="1920240" cy="274320"/>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Limitations and Use</a:t>
            </a:r>
            <a:endParaRPr lang="en-US" sz="1200" dirty="0"/>
          </a:p>
        </p:txBody>
      </p:sp>
      <p:sp>
        <p:nvSpPr>
          <p:cNvPr id="27" name="Text 24"/>
          <p:cNvSpPr txBox="1"/>
          <p:nvPr/>
        </p:nvSpPr>
        <p:spPr>
          <a:xfrm>
            <a:off x="6537960" y="3483864"/>
            <a:ext cx="1920240" cy="274320"/>
          </a:xfrm>
          <a:prstGeom prst="rect">
            <a:avLst/>
          </a:prstGeom>
          <a:noFill/>
          <a:ln/>
        </p:spPr>
        <p:txBody>
          <a:bodyPr wrap="square" lIns="0" tIns="0" rIns="0" bIns="0" rtlCol="0" anchor="t"/>
          <a:lstStyle/>
          <a:p>
            <a:pPr marL="0" indent="0">
              <a:buNone/>
            </a:pPr>
            <a:r>
              <a:rPr lang="en-US" sz="1050" dirty="0">
                <a:solidFill>
                  <a:srgbClr val="5A6B7F"/>
                </a:solidFill>
                <a:latin typeface="Calibri" pitchFamily="34" charset="0"/>
                <a:ea typeface="Calibri" pitchFamily="34" charset="-122"/>
                <a:cs typeface="Calibri" pitchFamily="34" charset="-120"/>
              </a:rPr>
              <a:t>Not for diagnosis</a:t>
            </a:r>
            <a:endParaRPr lang="en-US" sz="1050" dirty="0"/>
          </a:p>
        </p:txBody>
      </p:sp>
      <p:sp>
        <p:nvSpPr>
          <p:cNvPr id="28" name="Shape 25"/>
          <p:cNvSpPr/>
          <p:nvPr/>
        </p:nvSpPr>
        <p:spPr>
          <a:xfrm>
            <a:off x="4114800" y="4069080"/>
            <a:ext cx="4572000" cy="365760"/>
          </a:xfrm>
          <a:prstGeom prst="rect">
            <a:avLst/>
          </a:prstGeom>
          <a:solidFill>
            <a:srgbClr val="0B2545"/>
          </a:solidFill>
          <a:ln w="12700">
            <a:solidFill>
              <a:srgbClr val="0B2545"/>
            </a:solidFill>
            <a:prstDash val="solid"/>
          </a:ln>
        </p:spPr>
      </p:sp>
      <p:sp>
        <p:nvSpPr>
          <p:cNvPr id="29" name="Text 26"/>
          <p:cNvSpPr txBox="1"/>
          <p:nvPr/>
        </p:nvSpPr>
        <p:spPr>
          <a:xfrm>
            <a:off x="4114800" y="4069080"/>
            <a:ext cx="45720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CONCEPTUAL WIREFRAME. NOT A SCREENSHOT.</a:t>
            </a:r>
            <a:endParaRPr lang="en-US" sz="1100" dirty="0"/>
          </a:p>
        </p:txBody>
      </p:sp>
      <p:sp>
        <p:nvSpPr>
          <p:cNvPr id="4"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Limitations, Conclusions, and Future Work</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Text 2"/>
          <p:cNvSpPr txBox="1"/>
          <p:nvPr/>
        </p:nvSpPr>
        <p:spPr>
          <a:xfrm>
            <a:off x="457200" y="1280160"/>
            <a:ext cx="3200400" cy="274320"/>
          </a:xfrm>
          <a:prstGeom prst="rect">
            <a:avLst/>
          </a:prstGeom>
          <a:noFill/>
          <a:ln/>
        </p:spPr>
        <p:txBody>
          <a:bodyPr wrap="square" lIns="0" tIns="0" rIns="0" bIns="0" rtlCol="0" anchor="t"/>
          <a:lstStyle/>
          <a:p>
            <a:pPr marL="0" indent="0">
              <a:buNone/>
            </a:pPr>
            <a:r>
              <a:rPr lang="en-US" sz="1200" b="1" kern="0" spc="200" dirty="0">
                <a:solidFill>
                  <a:srgbClr val="0B2545"/>
                </a:solidFill>
                <a:latin typeface="Calibri" pitchFamily="34" charset="0"/>
                <a:ea typeface="Calibri" pitchFamily="34" charset="-122"/>
                <a:cs typeface="Calibri" pitchFamily="34" charset="-120"/>
              </a:rPr>
              <a:t>LIMITATIONS</a:t>
            </a:r>
            <a:endParaRPr lang="en-US" sz="1200" dirty="0"/>
          </a:p>
        </p:txBody>
      </p:sp>
      <p:sp>
        <p:nvSpPr>
          <p:cNvPr id="6" name="Text 3"/>
          <p:cNvSpPr txBox="1"/>
          <p:nvPr/>
        </p:nvSpPr>
        <p:spPr>
          <a:xfrm>
            <a:off x="457200" y="1572768"/>
            <a:ext cx="3200400" cy="28346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0B2545"/>
                </a:solidFill>
                <a:latin typeface="Calibri" pitchFamily="34" charset="0"/>
                <a:ea typeface="Calibri" pitchFamily="34" charset="-122"/>
                <a:cs typeface="Calibri" pitchFamily="34" charset="-120"/>
              </a:rPr>
              <a:t>Cross-sectional, self-reported outcome</a:t>
            </a:r>
            <a:endParaRPr lang="en-US" sz="1350" dirty="0"/>
          </a:p>
          <a:p>
            <a:pPr marL="342900" indent="-342900">
              <a:spcAft>
                <a:spcPts val="600"/>
              </a:spcAft>
              <a:buSzPct val="100000"/>
              <a:buChar char="•"/>
            </a:pPr>
            <a:r>
              <a:rPr lang="en-US" sz="1350" dirty="0">
                <a:solidFill>
                  <a:srgbClr val="0B2545"/>
                </a:solidFill>
                <a:latin typeface="Calibri" pitchFamily="34" charset="0"/>
                <a:ea typeface="Calibri" pitchFamily="34" charset="-122"/>
                <a:cs typeface="Calibri" pitchFamily="34" charset="-120"/>
              </a:rPr>
              <a:t>Imbalanced target (9.36% positive)</a:t>
            </a:r>
            <a:endParaRPr lang="en-US" sz="1350" dirty="0"/>
          </a:p>
          <a:p>
            <a:pPr marL="342900" indent="-342900">
              <a:spcAft>
                <a:spcPts val="600"/>
              </a:spcAft>
              <a:buSzPct val="100000"/>
              <a:buChar char="•"/>
            </a:pPr>
            <a:r>
              <a:rPr lang="en-US" sz="1350" dirty="0">
                <a:solidFill>
                  <a:srgbClr val="0B2545"/>
                </a:solidFill>
                <a:latin typeface="Calibri" pitchFamily="34" charset="0"/>
                <a:ea typeface="Calibri" pitchFamily="34" charset="-122"/>
                <a:cs typeface="Calibri" pitchFamily="34" charset="-120"/>
              </a:rPr>
              <a:t>No documented external validation</a:t>
            </a:r>
            <a:endParaRPr lang="en-US" sz="1350" dirty="0"/>
          </a:p>
          <a:p>
            <a:pPr marL="342900" indent="-342900">
              <a:spcAft>
                <a:spcPts val="600"/>
              </a:spcAft>
              <a:buSzPct val="100000"/>
              <a:buChar char="•"/>
            </a:pPr>
            <a:r>
              <a:rPr lang="en-US" sz="1350" dirty="0">
                <a:solidFill>
                  <a:srgbClr val="0B2545"/>
                </a:solidFill>
                <a:latin typeface="Calibri" pitchFamily="34" charset="0"/>
                <a:ea typeface="Calibri" pitchFamily="34" charset="-122"/>
                <a:cs typeface="Calibri" pitchFamily="34" charset="-120"/>
              </a:rPr>
              <a:t>Design-based variance analysis incomplete</a:t>
            </a:r>
            <a:endParaRPr lang="en-US" sz="1350" dirty="0"/>
          </a:p>
          <a:p>
            <a:pPr marL="342900" indent="-342900">
              <a:spcAft>
                <a:spcPts val="600"/>
              </a:spcAft>
              <a:buSzPct val="100000"/>
              <a:buChar char="•"/>
            </a:pPr>
            <a:r>
              <a:rPr lang="en-US" sz="1350" dirty="0">
                <a:solidFill>
                  <a:srgbClr val="0B2545"/>
                </a:solidFill>
                <a:latin typeface="Calibri" pitchFamily="34" charset="0"/>
                <a:ea typeface="Calibri" pitchFamily="34" charset="-122"/>
                <a:cs typeface="Calibri" pitchFamily="34" charset="-120"/>
              </a:rPr>
              <a:t>False-positive burden at 0.080</a:t>
            </a:r>
            <a:endParaRPr lang="en-US" sz="1350" dirty="0"/>
          </a:p>
          <a:p>
            <a:pPr marL="342900" indent="-342900">
              <a:spcAft>
                <a:spcPts val="600"/>
              </a:spcAft>
              <a:buSzPct val="100000"/>
              <a:buChar char="•"/>
            </a:pPr>
            <a:r>
              <a:rPr lang="en-US" sz="1350" dirty="0">
                <a:solidFill>
                  <a:srgbClr val="0B2545"/>
                </a:solidFill>
                <a:latin typeface="Calibri" pitchFamily="34" charset="0"/>
                <a:ea typeface="Calibri" pitchFamily="34" charset="-122"/>
                <a:cs typeface="Calibri" pitchFamily="34" charset="-120"/>
              </a:rPr>
              <a:t>Explanations are not causal</a:t>
            </a:r>
            <a:endParaRPr lang="en-US" sz="1350" dirty="0"/>
          </a:p>
          <a:p>
            <a:pPr marL="342900" indent="-342900">
              <a:spcAft>
                <a:spcPts val="600"/>
              </a:spcAft>
              <a:buSzPct val="100000"/>
              <a:buChar char="•"/>
            </a:pPr>
            <a:r>
              <a:rPr lang="en-US" sz="1350" dirty="0">
                <a:solidFill>
                  <a:srgbClr val="0B2545"/>
                </a:solidFill>
                <a:latin typeface="Calibri" pitchFamily="34" charset="0"/>
                <a:ea typeface="Calibri" pitchFamily="34" charset="-122"/>
                <a:cs typeface="Calibri" pitchFamily="34" charset="-120"/>
              </a:rPr>
              <a:t>Not clinically validated</a:t>
            </a:r>
            <a:endParaRPr lang="en-US" sz="1350" dirty="0"/>
          </a:p>
          <a:p>
            <a:pPr marL="342900" indent="-342900">
              <a:spcAft>
                <a:spcPts val="600"/>
              </a:spcAft>
              <a:buSzPct val="100000"/>
              <a:buChar char="•"/>
            </a:pPr>
            <a:r>
              <a:rPr lang="en-US" sz="1350" dirty="0">
                <a:solidFill>
                  <a:srgbClr val="0B2545"/>
                </a:solidFill>
                <a:latin typeface="Calibri" pitchFamily="34" charset="0"/>
                <a:ea typeface="Calibri" pitchFamily="34" charset="-122"/>
                <a:cs typeface="Calibri" pitchFamily="34" charset="-120"/>
              </a:rPr>
              <a:t>Dashboard final verification pending</a:t>
            </a:r>
            <a:endParaRPr lang="en-US" sz="1350" dirty="0"/>
          </a:p>
        </p:txBody>
      </p:sp>
      <p:sp>
        <p:nvSpPr>
          <p:cNvPr id="7" name="Text 4"/>
          <p:cNvSpPr txBox="1"/>
          <p:nvPr/>
        </p:nvSpPr>
        <p:spPr>
          <a:xfrm>
            <a:off x="3840480" y="1280160"/>
            <a:ext cx="246888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CONCLUSIONS</a:t>
            </a:r>
            <a:endParaRPr lang="en-US" sz="1200" dirty="0"/>
          </a:p>
        </p:txBody>
      </p:sp>
      <p:sp>
        <p:nvSpPr>
          <p:cNvPr id="8" name="Text 5"/>
          <p:cNvSpPr txBox="1"/>
          <p:nvPr/>
        </p:nvSpPr>
        <p:spPr>
          <a:xfrm>
            <a:off x="3840480" y="1572768"/>
            <a:ext cx="2468880" cy="28346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Leakage-safe, reproducible pipeline</a:t>
            </a:r>
            <a:endParaRPr lang="en-US" sz="1300" dirty="0"/>
          </a:p>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HGB selected on validation PR-AUC (0.3701)</a:t>
            </a:r>
            <a:endParaRPr lang="en-US" sz="1300" dirty="0"/>
          </a:p>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Holdout PR-AUC 0.3808; sensitivity 83.91% at 0.080</a:t>
            </a:r>
            <a:endParaRPr lang="en-US" sz="1300" dirty="0"/>
          </a:p>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Age, general health, sex, stroke history most influential</a:t>
            </a:r>
            <a:endParaRPr lang="en-US" sz="1300" dirty="0"/>
          </a:p>
        </p:txBody>
      </p:sp>
      <p:sp>
        <p:nvSpPr>
          <p:cNvPr id="9" name="Text 6"/>
          <p:cNvSpPr txBox="1"/>
          <p:nvPr/>
        </p:nvSpPr>
        <p:spPr>
          <a:xfrm>
            <a:off x="6492240" y="1280160"/>
            <a:ext cx="2194560" cy="274320"/>
          </a:xfrm>
          <a:prstGeom prst="rect">
            <a:avLst/>
          </a:prstGeom>
          <a:noFill/>
          <a:ln/>
        </p:spPr>
        <p:txBody>
          <a:bodyPr wrap="square" lIns="0" tIns="0" rIns="0" bIns="0" rtlCol="0" anchor="t"/>
          <a:lstStyle/>
          <a:p>
            <a:pPr marL="0" indent="0">
              <a:buNone/>
            </a:pPr>
            <a:r>
              <a:rPr lang="en-US" sz="1200" b="1" kern="0" spc="200" dirty="0">
                <a:solidFill>
                  <a:srgbClr val="3E7C85"/>
                </a:solidFill>
                <a:latin typeface="Calibri" pitchFamily="34" charset="0"/>
                <a:ea typeface="Calibri" pitchFamily="34" charset="-122"/>
                <a:cs typeface="Calibri" pitchFamily="34" charset="-120"/>
              </a:rPr>
              <a:t>FUTURE WORK</a:t>
            </a:r>
            <a:endParaRPr lang="en-US" sz="1200" dirty="0"/>
          </a:p>
        </p:txBody>
      </p:sp>
      <p:sp>
        <p:nvSpPr>
          <p:cNvPr id="10" name="Text 7"/>
          <p:cNvSpPr txBox="1"/>
          <p:nvPr/>
        </p:nvSpPr>
        <p:spPr>
          <a:xfrm>
            <a:off x="6492240" y="1572768"/>
            <a:ext cx="2194560" cy="28346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Complex-survey uncertainty</a:t>
            </a:r>
            <a:endParaRPr lang="en-US" sz="1300" dirty="0"/>
          </a:p>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External validation</a:t>
            </a:r>
            <a:endParaRPr lang="en-US" sz="1300" dirty="0"/>
          </a:p>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Subgroup performance and fairness</a:t>
            </a:r>
            <a:endParaRPr lang="en-US" sz="1300" dirty="0"/>
          </a:p>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Explanation stability</a:t>
            </a:r>
            <a:endParaRPr lang="en-US" sz="1300" dirty="0"/>
          </a:p>
          <a:p>
            <a:pPr marL="342900" indent="-342900">
              <a:spcAft>
                <a:spcPts val="700"/>
              </a:spcAft>
              <a:buSzPct val="100000"/>
              <a:buChar char="•"/>
            </a:pPr>
            <a:r>
              <a:rPr lang="en-US" sz="1300" dirty="0">
                <a:solidFill>
                  <a:srgbClr val="0B2545"/>
                </a:solidFill>
                <a:latin typeface="Calibri" pitchFamily="34" charset="0"/>
                <a:ea typeface="Calibri" pitchFamily="34" charset="-122"/>
                <a:cs typeface="Calibri" pitchFamily="34" charset="-120"/>
              </a:rPr>
              <a:t>Dashboard verification</a:t>
            </a:r>
            <a:endParaRPr lang="en-US" sz="1300" dirty="0"/>
          </a:p>
        </p:txBody>
      </p:sp>
      <p:sp>
        <p:nvSpPr>
          <p:cNvPr id="11" name="Shape 8"/>
          <p:cNvSpPr/>
          <p:nvPr/>
        </p:nvSpPr>
        <p:spPr>
          <a:xfrm>
            <a:off x="3749040" y="1325880"/>
            <a:ext cx="0" cy="3017520"/>
          </a:xfrm>
          <a:prstGeom prst="line">
            <a:avLst/>
          </a:prstGeom>
          <a:noFill/>
          <a:ln w="12700">
            <a:solidFill>
              <a:srgbClr val="D5DCE5"/>
            </a:solidFill>
            <a:prstDash val="solid"/>
          </a:ln>
        </p:spPr>
      </p:sp>
      <p:sp>
        <p:nvSpPr>
          <p:cNvPr id="12" name="Shape 9"/>
          <p:cNvSpPr/>
          <p:nvPr/>
        </p:nvSpPr>
        <p:spPr>
          <a:xfrm>
            <a:off x="6400800" y="1325880"/>
            <a:ext cx="0" cy="3017520"/>
          </a:xfrm>
          <a:prstGeom prst="line">
            <a:avLst/>
          </a:prstGeom>
          <a:noFill/>
          <a:ln w="12700">
            <a:solidFill>
              <a:srgbClr val="D5DCE5"/>
            </a:solidFill>
            <a:prstDash val="solid"/>
          </a:ln>
        </p:spPr>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marL="0" indent="0">
              <a:buNone/>
            </a:pPr>
            <a:r>
              <a:rPr lang="en-US" sz="2200" b="1" dirty="0">
                <a:solidFill>
                  <a:srgbClr val="0B2545"/>
                </a:solidFill>
                <a:latin typeface="Georgia" pitchFamily="34" charset="0"/>
                <a:ea typeface="Georgia" pitchFamily="34" charset="-122"/>
                <a:cs typeface="Georgia" pitchFamily="34" charset="-120"/>
              </a:rPr>
              <a:t>Selected References</a:t>
            </a:r>
            <a:endParaRPr lang="en-US" sz="2200" dirty="0"/>
          </a:p>
        </p:txBody>
      </p:sp>
      <p:sp>
        <p:nvSpPr>
          <p:cNvPr id="3" name="Shape 1"/>
          <p:cNvSpPr/>
          <p:nvPr/>
        </p:nvSpPr>
        <p:spPr>
          <a:xfrm>
            <a:off x="457200" y="1069848"/>
            <a:ext cx="640080" cy="36576"/>
          </a:xfrm>
          <a:prstGeom prst="rect">
            <a:avLst/>
          </a:prstGeom>
          <a:solidFill>
            <a:srgbClr val="3E7C85"/>
          </a:solidFill>
          <a:ln w="12700">
            <a:solidFill>
              <a:srgbClr val="3E7C85"/>
            </a:solidFill>
            <a:prstDash val="solid"/>
          </a:ln>
        </p:spPr>
      </p:sp>
      <p:sp>
        <p:nvSpPr>
          <p:cNvPr id="5" name="Text 2"/>
          <p:cNvSpPr txBox="1"/>
          <p:nvPr/>
        </p:nvSpPr>
        <p:spPr>
          <a:xfrm>
            <a:off x="457200" y="1280160"/>
            <a:ext cx="8229600" cy="2743200"/>
          </a:xfrm>
          <a:prstGeom prst="rect">
            <a:avLst/>
          </a:prstGeom>
          <a:noFill/>
          <a:ln/>
        </p:spPr>
        <p:txBody>
          <a:bodyPr wrap="square" lIns="0" tIns="0" rIns="0" bIns="0" rtlCol="0" anchor="t"/>
          <a:lstStyle/>
          <a:p>
            <a:pPr marL="0" indent="0">
              <a:spcAft>
                <a:spcPts val="700"/>
              </a:spcAft>
              <a:buNone/>
            </a:pPr>
            <a:r>
              <a:rPr lang="en-US" sz="1200" dirty="0">
                <a:solidFill>
                  <a:srgbClr val="0B2545"/>
                </a:solidFill>
                <a:latin typeface="Calibri" pitchFamily="34" charset="0"/>
                <a:ea typeface="Calibri" pitchFamily="34" charset="-122"/>
                <a:cs typeface="Calibri" pitchFamily="34" charset="-120"/>
              </a:rPr>
              <a:t>CDC, "2024 BRFSS Survey Data and Documentation," cdc.gov/brfss/annual_data/annual_2024.html.</a:t>
            </a:r>
            <a:endParaRPr lang="en-US" sz="1200" dirty="0"/>
          </a:p>
          <a:p>
            <a:pPr marL="0" indent="0">
              <a:spcAft>
                <a:spcPts val="700"/>
              </a:spcAft>
              <a:buNone/>
            </a:pPr>
            <a:r>
              <a:rPr lang="en-US" sz="1200" dirty="0">
                <a:solidFill>
                  <a:srgbClr val="0B2545"/>
                </a:solidFill>
                <a:latin typeface="Calibri" pitchFamily="34" charset="0"/>
                <a:ea typeface="Calibri" pitchFamily="34" charset="-122"/>
                <a:cs typeface="Calibri" pitchFamily="34" charset="-120"/>
              </a:rPr>
              <a:t>[1] M. M. Chowdhury, R. S. Ayon, M. S. Hossain, "An investigation of machine learning algorithms and data augmentation techniques for diabetes diagnosis using class imbalanced BRFSS dataset," Healthcare Analytics, vol. 5, 100297, 2024, doi: 10.1016/j.health.2023.100297.</a:t>
            </a:r>
            <a:endParaRPr lang="en-US" sz="1200" dirty="0"/>
          </a:p>
          <a:p>
            <a:pPr marL="0" indent="0">
              <a:spcAft>
                <a:spcPts val="700"/>
              </a:spcAft>
              <a:buNone/>
            </a:pPr>
            <a:r>
              <a:rPr lang="en-US" sz="1200" dirty="0">
                <a:solidFill>
                  <a:srgbClr val="0B2545"/>
                </a:solidFill>
                <a:latin typeface="Calibri" pitchFamily="34" charset="0"/>
                <a:ea typeface="Calibri" pitchFamily="34" charset="-122"/>
                <a:cs typeface="Calibri" pitchFamily="34" charset="-120"/>
              </a:rPr>
              <a:t>[2] M. Imani et al., "Predicting cardiovascular diseases using imbalanced data: An XGBoost-based analysis of the 2022 BRFSS dataset," Am. Heart J. Plus, vol. 63, 100719, 2026, doi: 10.1016/j.ahjo.2026.100719.</a:t>
            </a:r>
            <a:endParaRPr lang="en-US" sz="1200" dirty="0"/>
          </a:p>
          <a:p>
            <a:pPr marL="0" indent="0">
              <a:spcAft>
                <a:spcPts val="700"/>
              </a:spcAft>
              <a:buNone/>
            </a:pPr>
            <a:r>
              <a:rPr lang="en-US" sz="1200" dirty="0">
                <a:solidFill>
                  <a:srgbClr val="0B2545"/>
                </a:solidFill>
                <a:latin typeface="Calibri" pitchFamily="34" charset="0"/>
                <a:ea typeface="Calibri" pitchFamily="34" charset="-122"/>
                <a:cs typeface="Calibri" pitchFamily="34" charset="-120"/>
              </a:rPr>
              <a:t>[3] J. Islam, D. Datta, F. Akhter, "Leakage-safe precision-aware dual-branch FT-Transformer for population-scale heart disease risk prediction," Sensors, vol. 26, no. 11, 3417, 2026, doi: 10.3390/s26113417.</a:t>
            </a:r>
            <a:endParaRPr lang="en-US" sz="1200" dirty="0"/>
          </a:p>
          <a:p>
            <a:pPr marL="0" indent="0">
              <a:spcAft>
                <a:spcPts val="700"/>
              </a:spcAft>
              <a:buNone/>
            </a:pPr>
            <a:r>
              <a:rPr lang="en-US" sz="1200" dirty="0">
                <a:solidFill>
                  <a:srgbClr val="0B2545"/>
                </a:solidFill>
                <a:latin typeface="Calibri" pitchFamily="34" charset="0"/>
                <a:ea typeface="Calibri" pitchFamily="34" charset="-122"/>
                <a:cs typeface="Calibri" pitchFamily="34" charset="-120"/>
              </a:rPr>
              <a:t>[4] J. D. Morgenstern et al., "Predicting population health with machine learning: A scoping review," BMJ Open, vol. 10, no. 10, e037860, 2020, doi: 10.1136/bmjopen-2020-037860.</a:t>
            </a:r>
            <a:endParaRPr lang="en-US" sz="1200" dirty="0"/>
          </a:p>
        </p:txBody>
      </p:sp>
      <p:sp>
        <p:nvSpPr>
          <p:cNvPr id="6" name="Shape 3"/>
          <p:cNvSpPr/>
          <p:nvPr/>
        </p:nvSpPr>
        <p:spPr>
          <a:xfrm>
            <a:off x="457200" y="3840480"/>
            <a:ext cx="8229600" cy="594360"/>
          </a:xfrm>
          <a:prstGeom prst="rect">
            <a:avLst/>
          </a:prstGeom>
          <a:solidFill>
            <a:srgbClr val="0B2545"/>
          </a:solidFill>
          <a:ln w="12700">
            <a:solidFill>
              <a:srgbClr val="0B2545"/>
            </a:solidFill>
            <a:prstDash val="solid"/>
          </a:ln>
        </p:spPr>
      </p:sp>
      <p:sp>
        <p:nvSpPr>
          <p:cNvPr id="7" name="Text 4"/>
          <p:cNvSpPr txBox="1"/>
          <p:nvPr/>
        </p:nvSpPr>
        <p:spPr>
          <a:xfrm>
            <a:off x="457200" y="3840480"/>
            <a:ext cx="822960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Thank you!</a:t>
            </a:r>
            <a:endParaRPr lang="en-US" sz="18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7F"/>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3676</Words>
  <Application>Microsoft Office PowerPoint</Application>
  <PresentationFormat>On-screen Show (16:9)</PresentationFormat>
  <Paragraphs>276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Explainable Data-Driven Framework for Population Health Analytics - CDC BRFSS 2024</dc:title>
  <dc:subject>PptxGenJS Presentation</dc:subject>
  <dc:creator/>
  <cp:lastModifiedBy>Yukti Madan</cp:lastModifiedBy>
  <cp:revision>2</cp:revision>
  <dcterms:created xsi:type="dcterms:W3CDTF">2026-10-24T11:42:46Z</dcterms:created>
  <dcterms:modified xsi:type="dcterms:W3CDTF">2026-10-24T11:59:24Z</dcterms:modified>
</cp:coreProperties>
</file>